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6" r:id="rId9"/>
    <p:sldId id="262" r:id="rId10"/>
    <p:sldId id="263" r:id="rId11"/>
    <p:sldId id="264" r:id="rId12"/>
  </p:sldIdLst>
  <p:sldSz cx="12192000" cy="6858000"/>
  <p:notesSz cx="6858000" cy="12192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5C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3725" autoAdjust="0"/>
  </p:normalViewPr>
  <p:slideViewPr>
    <p:cSldViewPr snapToGrid="0">
      <p:cViewPr varScale="1">
        <p:scale>
          <a:sx n="54" d="100"/>
          <a:sy n="54" d="100"/>
        </p:scale>
        <p:origin x="77" y="9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732273F-E468-4879-A8A8-243052D4100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‹Nr.›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Kurz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vorstellen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Projektnamen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nennen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dann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direkt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weiter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—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keine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Zeit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verlieren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28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A8863BC-E907-4D10-A25B-D5FDAC1DD3E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In der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Entwicklungsabteilung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bei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TrendTec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haben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wir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technische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Dokumentation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an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drei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verschiedenen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Stellen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gepflegt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— das hat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zu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Medienbrüchen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fehlenden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Standards (WORD,PAGES,MARKDOWN,PDF) und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erschwerter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Auffindbarkeit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geführt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31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2C8A4AA-329F-42A2-8F7E-B15D4F9BF0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Das Ziel war: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alles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in Odoo —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kein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Wechsel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zwischen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Tools,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keine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Medienbrüche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Markdown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als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Format,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weil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es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im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Entwicklerteam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bereits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bekannt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und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akzeptiert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ist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34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F1AB8B-205F-4164-888D-54949867275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Confluence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wäre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die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naheliegende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Alternative —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aber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externe Tools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lösen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das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Kernproblem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nicht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die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fehlende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Integration ins ERP. In der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Nutzwertanalyse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erreicht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MDWriter 475 von 500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Punkten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vor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allem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wegen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Integration und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Nachvollziehbarkeit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Der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kalkulatorische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Aufwand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lag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bei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2.112 Euro für 80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Stunden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laufende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Lizenzkosten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entfallen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37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988188-44BA-4296-8C85-AAFF583C01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MDWriter folgt dem Drei-Schichten-Modell von Odoo. Frontend-Bibliotheken liegen lokal im Modul, keine externen CDN-Aufrufe, zur Laufzeit keine externen Dienste.</a:t>
            </a:r>
          </a:p>
          <a:p>
            <a:pPr indent="0">
              <a:lnSpc>
                <a:spcPct val="100000"/>
              </a:lnSpc>
              <a:buNone/>
            </a:pPr>
            <a:r>
              <a:rPr lang="de-DE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• Aufbau von oben nach unten durchgehen: Frontend = OWL-Komponente mit </a:t>
            </a:r>
            <a:r>
              <a:rPr lang="de-DE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CodeMirror</a:t>
            </a:r>
            <a:r>
              <a:rPr lang="de-DE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(Editor) und </a:t>
            </a:r>
            <a:r>
              <a:rPr lang="de-DE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markdown-it</a:t>
            </a:r>
            <a:r>
              <a:rPr lang="de-DE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(Vorschau).</a:t>
            </a:r>
          </a:p>
          <a:p>
            <a:pPr indent="0">
              <a:lnSpc>
                <a:spcPct val="100000"/>
              </a:lnSpc>
              <a:buNone/>
            </a:pPr>
            <a:r>
              <a:rPr lang="de-DE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• Backend = Python mit Odoo-ORM: Versionierung, PDF, Sicherheit. </a:t>
            </a:r>
            <a:r>
              <a:rPr lang="de-DE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mistune</a:t>
            </a:r>
            <a:r>
              <a:rPr lang="de-DE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erzeugt das HTML, der </a:t>
            </a:r>
            <a:r>
              <a:rPr lang="de-DE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QWeb</a:t>
            </a:r>
            <a:r>
              <a:rPr lang="de-DE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-Report das PDF.</a:t>
            </a:r>
          </a:p>
          <a:p>
            <a:pPr indent="0">
              <a:lnSpc>
                <a:spcPct val="100000"/>
              </a:lnSpc>
              <a:buNone/>
            </a:pPr>
            <a:r>
              <a:rPr lang="de-DE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• Datenschicht = PostgreSQL über das ORM, Dateianhänge in </a:t>
            </a:r>
            <a:r>
              <a:rPr lang="de-DE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ir.attachment</a:t>
            </a:r>
            <a:r>
              <a:rPr lang="de-DE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</a:pPr>
            <a:r>
              <a:rPr lang="de-DE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• Kernpunkt: keine externen CDN-/Netzwerkabhängigkeiten, alles lokal im Modul, on-premise/Intranet lauffähig. Nur die Installation (Odoo, mistune via pip) braucht einmalig eine Quelle, danach serverseitig ohne Internet.</a:t>
            </a:r>
          </a:p>
          <a:p>
            <a:pPr indent="0">
              <a:lnSpc>
                <a:spcPct val="100000"/>
              </a:lnSpc>
              <a:buNone/>
            </a:pPr>
            <a:r>
              <a:rPr lang="de-DE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• Überleitung: „Soweit der Aufbau, jetzt konkret, was das Modul kann."</a:t>
            </a:r>
          </a:p>
        </p:txBody>
      </p:sp>
      <p:sp>
        <p:nvSpPr>
          <p:cNvPr id="140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2F0C0D-5157-499A-A9F1-9DA751F194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Das sind die sechs Kernfunktionen — alle ursprünglich geplanten Anforderungen wurden erfüllt, plus Restore und Statusverwaltung als Erweiterung.</a:t>
            </a:r>
          </a:p>
          <a:p>
            <a:pPr indent="0">
              <a:lnSpc>
                <a:spcPct val="100000"/>
              </a:lnSpc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Nicht alle sechs gleich lang erklären, Schwerpunkt auf Split-View, Versionierung und Diff, das zeige ich gleich in der Live-Demo.</a:t>
            </a:r>
          </a:p>
          <a:p>
            <a:pPr indent="0">
              <a:lnSpc>
                <a:spcPct val="100000"/>
              </a:lnSpc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Restore und Statusverwaltung kamen als sinnvolle Erweiterung über den Pflichtumfang hinaus dazu.</a:t>
            </a:r>
          </a:p>
          <a:p>
            <a:pPr indent="0">
              <a:lnSpc>
                <a:spcPct val="100000"/>
              </a:lnSpc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Überleitung: „Damit das Ganze auch verlässlich ist, kommt jetzt die Qualitätssicherung."</a:t>
            </a:r>
          </a:p>
        </p:txBody>
      </p:sp>
      <p:sp>
        <p:nvSpPr>
          <p:cNvPr id="14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AE4E53-666D-4A7B-841A-DAC2282EB3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Konkretes Beispiel aus der Umsetzung, bewusst gezeigt, weil es authentischer ist als zu sagen, es lief alles glatt.</a:t>
            </a:r>
          </a:p>
          <a:p>
            <a:pPr indent="0">
              <a:lnSpc>
                <a:spcPct val="100000"/>
              </a:lnSpc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Problem: CodeMirror ist DOM-basiert und braucht ein echtes Element im Browser. In setup() laeuft der Code zu frueh, die Textarea existiert da noch nicht.</a:t>
            </a:r>
          </a:p>
          <a:p>
            <a:pPr indent="0">
              <a:lnSpc>
                <a:spcPct val="100000"/>
              </a:lnSpc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Loesung: Deshalb Initialisierung erst in onMounted, dem OWL-Hook nach dem Einhaengen ins DOM. Aufraeumen in onWillUnmount gegen Memory Leaks.</a:t>
            </a:r>
          </a:p>
          <a:p>
            <a:pPr indent="0">
              <a:lnSpc>
                <a:spcPct val="100000"/>
              </a:lnSpc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Erkenntnis: Das Verstaendnis des OWL-Lebenszyklus war der Schluessel, das nehme ich fuer kuenftige Odoo-Frontend-Arbeit mit.</a:t>
            </a:r>
          </a:p>
          <a:p>
            <a:pPr indent="0">
              <a:lnSpc>
                <a:spcPct val="100000"/>
              </a:lnSpc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Ueberleitung: Nach der Umsetzung kommt die Qualitaetssicherung.</a:t>
            </a:r>
          </a:p>
        </p:txBody>
      </p:sp>
      <p:sp>
        <p:nvSpPr>
          <p:cNvPr id="143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FAE4E53-666D-4A7B-841A-DAC2282EB3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Das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Sicherheitskonzept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nutzt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zwei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Ebenen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ACLs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steuern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den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Modellzugriff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Record Rules den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Datensatzzugriff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Beides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zusammen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stellt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sicher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dass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ein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Benutzer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wirklich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nur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seine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eigenen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Dokumente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sieht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—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auch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wenn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er die URL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direkt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aufruft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</a:pPr>
            <a:r>
              <a:rPr lang="de-DE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• Belegbar, nicht nur behauptet: 7 automatisierte Tests, 0 </a:t>
            </a:r>
            <a:r>
              <a:rPr lang="de-DE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failed</a:t>
            </a:r>
            <a:r>
              <a:rPr lang="de-DE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de-DE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TransactionCase</a:t>
            </a:r>
            <a:r>
              <a:rPr lang="de-DE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prüft Versionierung, ACL und Versionsvergleich.</a:t>
            </a:r>
          </a:p>
          <a:p>
            <a:pPr indent="0">
              <a:lnSpc>
                <a:spcPct val="100000"/>
              </a:lnSpc>
              <a:buNone/>
            </a:pPr>
            <a:r>
              <a:rPr lang="de-DE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• MD5-Merker: Prüfsumme = Änderungserkennung zwischen Versionen, nicht Sicherheit. Nie „MD5" und „Sicherheit" in einem Satz.</a:t>
            </a:r>
          </a:p>
          <a:p>
            <a:pPr indent="0">
              <a:lnSpc>
                <a:spcPct val="100000"/>
              </a:lnSpc>
              <a:buNone/>
            </a:pPr>
            <a:r>
              <a:rPr lang="de-DE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• Falls gefragt: Veröffentlichen ändert die Sichtbarkeit nicht, Zugriff hängt nur an </a:t>
            </a:r>
            <a:r>
              <a:rPr lang="de-DE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owner_id</a:t>
            </a:r>
            <a:r>
              <a:rPr lang="de-DE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Die </a:t>
            </a:r>
            <a:r>
              <a:rPr lang="de-DE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Record</a:t>
            </a:r>
            <a:r>
              <a:rPr lang="de-DE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-Rule-Domain wird serverseitig an jede Abfrage angehängt, auch bei direktem URL-Aufruf.</a:t>
            </a:r>
          </a:p>
          <a:p>
            <a:pPr indent="0">
              <a:lnSpc>
                <a:spcPct val="100000"/>
              </a:lnSpc>
              <a:buNone/>
            </a:pPr>
            <a:r>
              <a:rPr lang="de-DE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• Überleitung: „Zum Abschluss das Ergebnis und ein kurzer Ausblick."</a:t>
            </a:r>
          </a:p>
        </p:txBody>
      </p:sp>
      <p:sp>
        <p:nvSpPr>
          <p:cNvPr id="146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3E6AFD-67B1-4E3B-BB37-332A1A4B42C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Das Projekt hat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mein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Verständnis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für die Odoo-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Entwicklung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besonders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im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Frontend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mit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OWL,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deutlich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vertieft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Das Modul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wurde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abgenommen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und für den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internen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Einsatz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freigegeben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;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mittelfristig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ist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ein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Einsatz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in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Kundenprojekten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denkbar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 Für die Live-Demo: MDWriter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öffnen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Dokument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öffnen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Split-View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zeigen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speichern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Version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ansehen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Diff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öffnen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PDF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exportieren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und Rechte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kurz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20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erklären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b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</a:b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1BC02C-3576-4218-B591-8D08A45BA8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2"/>
          <p:cNvSpPr/>
          <p:nvPr/>
        </p:nvSpPr>
        <p:spPr>
          <a:xfrm>
            <a:off x="713160" y="704160"/>
            <a:ext cx="2971440" cy="347040"/>
          </a:xfrm>
          <a:prstGeom prst="rect">
            <a:avLst/>
          </a:prstGeom>
          <a:solidFill>
            <a:srgbClr val="E5EBDD"/>
          </a:solidFill>
          <a:ln w="0">
            <a:solidFill>
              <a:srgbClr val="E5EBD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2E4A39"/>
                </a:solidFill>
                <a:effectLst/>
                <a:uFillTx/>
                <a:latin typeface="Aptos"/>
                <a:ea typeface="Aptos"/>
              </a:rPr>
              <a:t>Odoo 19 · Markdown · Dokumentation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713160" y="1572840"/>
            <a:ext cx="47545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2A2F"/>
                </a:solidFill>
                <a:effectLst/>
                <a:uFillTx/>
                <a:latin typeface="Aptos Display"/>
                <a:ea typeface="Aptos Display"/>
              </a:rPr>
              <a:t>MDWriter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713160" y="2176200"/>
            <a:ext cx="6080400" cy="98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506B4E"/>
                </a:solidFill>
                <a:effectLst/>
                <a:uFillTx/>
                <a:latin typeface="Aptos Display"/>
                <a:ea typeface="Aptos Display"/>
              </a:rPr>
              <a:t>Markdown-Dokumentation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506B4E"/>
                </a:solidFill>
                <a:effectLst/>
                <a:uFillTx/>
                <a:latin typeface="Aptos Display"/>
                <a:ea typeface="Aptos Display"/>
              </a:rPr>
              <a:t>direkt in Odoo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731520" y="3364920"/>
            <a:ext cx="5897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0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Konzeption und Entwicklung eines eigenständigen Odoo-19-Moduls</a:t>
            </a:r>
            <a:endParaRPr lang="en-US" sz="1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749880" y="5148000"/>
            <a:ext cx="47545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Timo Giese · Fachinformatiker Anwendungsentwicklung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TrendTec UG · Sommerprüfung 2026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0" y="6236280"/>
            <a:ext cx="12191400" cy="621360"/>
          </a:xfrm>
          <a:prstGeom prst="rect">
            <a:avLst/>
          </a:prstGeom>
          <a:solidFill>
            <a:srgbClr val="2E4A39"/>
          </a:solidFill>
          <a:ln w="12600">
            <a:solidFill>
              <a:schemeClr val="accent6">
                <a:lumMod val="50000"/>
                <a:alpha val="0"/>
              </a:scheme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713160" y="6437520"/>
            <a:ext cx="52117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Präsentation ca. 8 Minuten · anschließend Live-Demo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" name="MDWrite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6280" y="729960"/>
            <a:ext cx="1905000" cy="1905000"/>
          </a:xfrm>
          <a:prstGeom prst="ellipse">
            <a:avLst/>
          </a:prstGeom>
          <a:ln w="190500" cap="rnd">
            <a:solidFill>
              <a:schemeClr val="accent6">
                <a:lumMod val="50000"/>
              </a:schemeClr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658440" y="347400"/>
            <a:ext cx="5851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506B4E"/>
                </a:solidFill>
                <a:effectLst/>
                <a:uFillTx/>
                <a:latin typeface="Aptos"/>
                <a:ea typeface="Aptos"/>
              </a:rPr>
              <a:t>IHK-PRÜFUNGSPRÄSENTATION · MDWRITER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658440" y="603360"/>
            <a:ext cx="7223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50" b="1" u="none" strike="noStrike">
                <a:solidFill>
                  <a:srgbClr val="1B2A2F"/>
                </a:solidFill>
                <a:effectLst/>
                <a:uFillTx/>
                <a:latin typeface="Aptos Display"/>
                <a:ea typeface="Aptos Display"/>
              </a:rPr>
              <a:t>Gliederung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"/>
          <p:cNvSpPr/>
          <p:nvPr/>
        </p:nvSpPr>
        <p:spPr>
          <a:xfrm>
            <a:off x="658440" y="1078920"/>
            <a:ext cx="10881000" cy="8640"/>
          </a:xfrm>
          <a:prstGeom prst="rect">
            <a:avLst/>
          </a:prstGeom>
          <a:noFill/>
          <a:ln w="9000">
            <a:solidFill>
              <a:srgbClr val="D8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4" name="Text 11"/>
          <p:cNvSpPr/>
          <p:nvPr/>
        </p:nvSpPr>
        <p:spPr>
          <a:xfrm>
            <a:off x="11201400" y="638244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02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2"/>
          <p:cNvSpPr/>
          <p:nvPr/>
        </p:nvSpPr>
        <p:spPr>
          <a:xfrm>
            <a:off x="658440" y="638244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Timo Giese · TrendTec UG · Sommerprüfung 2026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ub"/>
          <p:cNvSpPr/>
          <p:nvPr/>
        </p:nvSpPr>
        <p:spPr>
          <a:xfrm>
            <a:off x="658440" y="1225440"/>
            <a:ext cx="7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de-DE" sz="1050" b="0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Vorgehen nach Projektphasen</a:t>
            </a:r>
          </a:p>
        </p:txBody>
      </p:sp>
      <p:sp>
        <p:nvSpPr>
          <p:cNvPr id="61" name="Phasen"/>
          <p:cNvSpPr/>
          <p:nvPr/>
        </p:nvSpPr>
        <p:spPr>
          <a:xfrm>
            <a:off x="777240" y="1780000"/>
            <a:ext cx="10500000" cy="3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1300"/>
              </a:spcBef>
              <a:buNone/>
            </a:pPr>
            <a:r>
              <a:rPr lang="de-DE" sz="1700" b="1" u="none" strike="noStrike">
                <a:solidFill>
                  <a:srgbClr val="506B4E"/>
                </a:solidFill>
                <a:effectLst/>
                <a:uFillTx/>
                <a:latin typeface="Aptos"/>
                <a:ea typeface="Aptos"/>
              </a:rPr>
              <a:t>1</a:t>
            </a:r>
            <a:r>
              <a:rPr lang="de-DE" sz="1700" b="1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   Analyse</a:t>
            </a:r>
            <a:r>
              <a:rPr lang="de-DE" sz="1400" b="0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   —   Problem, Ziel, Wirtschaftlichkeit</a:t>
            </a:r>
          </a:p>
          <a:p>
            <a:pPr indent="0">
              <a:lnSpc>
                <a:spcPct val="100000"/>
              </a:lnSpc>
              <a:spcBef>
                <a:spcPts val="1300"/>
              </a:spcBef>
              <a:buNone/>
            </a:pPr>
            <a:r>
              <a:rPr lang="de-DE" sz="1700" b="1" u="none" strike="noStrike">
                <a:solidFill>
                  <a:srgbClr val="506B4E"/>
                </a:solidFill>
                <a:effectLst/>
                <a:uFillTx/>
                <a:latin typeface="Aptos"/>
                <a:ea typeface="Aptos"/>
              </a:rPr>
              <a:t>2</a:t>
            </a:r>
            <a:r>
              <a:rPr lang="de-DE" sz="1700" b="1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   Entwurf</a:t>
            </a:r>
            <a:r>
              <a:rPr lang="de-DE" sz="1400" b="0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   —   Architektur und Datenmodell</a:t>
            </a:r>
          </a:p>
          <a:p>
            <a:pPr indent="0">
              <a:lnSpc>
                <a:spcPct val="100000"/>
              </a:lnSpc>
              <a:spcBef>
                <a:spcPts val="1300"/>
              </a:spcBef>
              <a:buNone/>
            </a:pPr>
            <a:r>
              <a:rPr lang="de-DE" sz="1700" b="1" u="none" strike="noStrike">
                <a:solidFill>
                  <a:srgbClr val="506B4E"/>
                </a:solidFill>
                <a:effectLst/>
                <a:uFillTx/>
                <a:latin typeface="Aptos"/>
                <a:ea typeface="Aptos"/>
              </a:rPr>
              <a:t>3</a:t>
            </a:r>
            <a:r>
              <a:rPr lang="de-DE" sz="1700" b="1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   Implementierung</a:t>
            </a:r>
            <a:r>
              <a:rPr lang="de-DE" sz="1400" b="0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   —   Backend, Frontend, Editor</a:t>
            </a:r>
          </a:p>
          <a:p>
            <a:pPr indent="0">
              <a:lnSpc>
                <a:spcPct val="100000"/>
              </a:lnSpc>
              <a:spcBef>
                <a:spcPts val="1300"/>
              </a:spcBef>
              <a:buNone/>
            </a:pPr>
            <a:r>
              <a:rPr lang="de-DE" sz="1700" b="1" u="none" strike="noStrike">
                <a:solidFill>
                  <a:srgbClr val="506B4E"/>
                </a:solidFill>
                <a:effectLst/>
                <a:uFillTx/>
                <a:latin typeface="Aptos"/>
                <a:ea typeface="Aptos"/>
              </a:rPr>
              <a:t>4</a:t>
            </a:r>
            <a:r>
              <a:rPr lang="de-DE" sz="1700" b="1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   Test</a:t>
            </a:r>
            <a:r>
              <a:rPr lang="de-DE" sz="1400" b="0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   —   automatisierte und manuelle Tests</a:t>
            </a:r>
          </a:p>
          <a:p>
            <a:pPr indent="0">
              <a:lnSpc>
                <a:spcPct val="100000"/>
              </a:lnSpc>
              <a:spcBef>
                <a:spcPts val="1300"/>
              </a:spcBef>
              <a:buNone/>
            </a:pPr>
            <a:r>
              <a:rPr lang="de-DE" sz="1700" b="1" u="none" strike="noStrike">
                <a:solidFill>
                  <a:srgbClr val="506B4E"/>
                </a:solidFill>
                <a:effectLst/>
                <a:uFillTx/>
                <a:latin typeface="Aptos"/>
                <a:ea typeface="Aptos"/>
              </a:rPr>
              <a:t>5</a:t>
            </a:r>
            <a:r>
              <a:rPr lang="de-DE" sz="1700" b="1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   Fazit</a:t>
            </a:r>
            <a:r>
              <a:rPr lang="de-DE" sz="1400" b="0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   —   Ergebnis und Ausblick</a:t>
            </a:r>
          </a:p>
        </p:txBody>
      </p:sp>
      <p:sp>
        <p:nvSpPr>
          <p:cNvPr id="62" name="Demo"/>
          <p:cNvSpPr/>
          <p:nvPr/>
        </p:nvSpPr>
        <p:spPr>
          <a:xfrm>
            <a:off x="777240" y="5350000"/>
            <a:ext cx="9000000" cy="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de-DE" sz="1400" b="1" u="none" strike="noStrike">
                <a:solidFill>
                  <a:srgbClr val="2E4A39"/>
                </a:solidFill>
                <a:effectLst/>
                <a:uFillTx/>
                <a:latin typeface="Aptos"/>
                <a:ea typeface="Aptos"/>
              </a:rPr>
              <a:t>+ Live-Demo im Anschluss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658440" y="347400"/>
            <a:ext cx="5851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506B4E"/>
                </a:solidFill>
                <a:effectLst/>
                <a:uFillTx/>
                <a:latin typeface="Aptos"/>
                <a:ea typeface="Aptos"/>
              </a:rPr>
              <a:t>IHK-PRÜFUNGSPRÄSENTATION · MDWRITER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658440" y="603360"/>
            <a:ext cx="7223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50" b="1" u="none" strike="noStrike">
                <a:solidFill>
                  <a:srgbClr val="1B2A2F"/>
                </a:solidFill>
                <a:effectLst/>
                <a:uFillTx/>
                <a:latin typeface="Aptos Display"/>
                <a:ea typeface="Aptos Display"/>
              </a:rPr>
              <a:t>Das Problem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658440" y="1078920"/>
            <a:ext cx="10881000" cy="8640"/>
          </a:xfrm>
          <a:prstGeom prst="rect">
            <a:avLst/>
          </a:prstGeom>
          <a:noFill/>
          <a:ln w="9000">
            <a:solidFill>
              <a:srgbClr val="D8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" name="Text 3"/>
          <p:cNvSpPr/>
          <p:nvPr/>
        </p:nvSpPr>
        <p:spPr>
          <a:xfrm>
            <a:off x="658440" y="1225440"/>
            <a:ext cx="39315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Ausgangssituation in der Entwicklungsabteilung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4"/>
          <p:cNvSpPr/>
          <p:nvPr/>
        </p:nvSpPr>
        <p:spPr>
          <a:xfrm>
            <a:off x="777240" y="2514600"/>
            <a:ext cx="1645560" cy="658080"/>
          </a:xfrm>
          <a:prstGeom prst="rect">
            <a:avLst/>
          </a:prstGeom>
          <a:solidFill>
            <a:srgbClr val="506B4E"/>
          </a:solidFill>
          <a:ln w="0">
            <a:solidFill>
              <a:srgbClr val="506B4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Entwickler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5"/>
          <p:cNvSpPr/>
          <p:nvPr/>
        </p:nvSpPr>
        <p:spPr>
          <a:xfrm flipV="1">
            <a:off x="2633400" y="2011680"/>
            <a:ext cx="960120" cy="831960"/>
          </a:xfrm>
          <a:prstGeom prst="line">
            <a:avLst/>
          </a:prstGeom>
          <a:ln w="25560">
            <a:solidFill>
              <a:srgbClr val="D8D2C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3703320" y="1664280"/>
            <a:ext cx="1846800" cy="694440"/>
          </a:xfrm>
          <a:prstGeom prst="rect">
            <a:avLst/>
          </a:prstGeom>
          <a:solidFill>
            <a:srgbClr val="E4EEF3"/>
          </a:solidFill>
          <a:ln w="10080">
            <a:solidFill>
              <a:srgbClr val="D8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27485D"/>
                </a:solidFill>
                <a:effectLst/>
                <a:uFillTx/>
                <a:latin typeface="Aptos"/>
                <a:ea typeface="Aptos"/>
              </a:rPr>
              <a:t>Odoo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27485D"/>
                </a:solidFill>
                <a:effectLst/>
                <a:uFillTx/>
                <a:latin typeface="Aptos"/>
                <a:ea typeface="Aptos"/>
              </a:rPr>
              <a:t>HTML-Editor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7"/>
          <p:cNvSpPr/>
          <p:nvPr/>
        </p:nvSpPr>
        <p:spPr>
          <a:xfrm>
            <a:off x="2633400" y="2843640"/>
            <a:ext cx="960120" cy="201240"/>
          </a:xfrm>
          <a:prstGeom prst="line">
            <a:avLst/>
          </a:prstGeom>
          <a:ln w="25560">
            <a:solidFill>
              <a:srgbClr val="D8D2C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8"/>
          <p:cNvSpPr/>
          <p:nvPr/>
        </p:nvSpPr>
        <p:spPr>
          <a:xfrm>
            <a:off x="3703320" y="2697480"/>
            <a:ext cx="1846800" cy="694440"/>
          </a:xfrm>
          <a:prstGeom prst="rect">
            <a:avLst/>
          </a:prstGeom>
          <a:solidFill>
            <a:srgbClr val="F4ECD8"/>
          </a:solidFill>
          <a:ln w="10080">
            <a:solidFill>
              <a:srgbClr val="D8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2E4A39"/>
                </a:solidFill>
                <a:effectLst/>
                <a:uFillTx/>
                <a:latin typeface="Aptos"/>
                <a:ea typeface="Aptos"/>
              </a:rPr>
              <a:t>Git-Wikis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9"/>
          <p:cNvSpPr/>
          <p:nvPr/>
        </p:nvSpPr>
        <p:spPr>
          <a:xfrm>
            <a:off x="2633400" y="2843640"/>
            <a:ext cx="960120" cy="1234440"/>
          </a:xfrm>
          <a:prstGeom prst="line">
            <a:avLst/>
          </a:prstGeom>
          <a:ln w="25560">
            <a:solidFill>
              <a:srgbClr val="D8D2C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3703320" y="3730680"/>
            <a:ext cx="1846800" cy="694440"/>
          </a:xfrm>
          <a:prstGeom prst="rect">
            <a:avLst/>
          </a:prstGeom>
          <a:solidFill>
            <a:srgbClr val="E5EBDD"/>
          </a:solidFill>
          <a:ln w="10080">
            <a:solidFill>
              <a:srgbClr val="D8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720" tIns="720" rIns="720" bIns="72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2E4A39"/>
                </a:solidFill>
                <a:effectLst/>
                <a:uFillTx/>
                <a:latin typeface="Aptos"/>
                <a:ea typeface="Aptos"/>
              </a:rPr>
              <a:t>Lokale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20" b="1" u="none" strike="noStrike">
                <a:solidFill>
                  <a:srgbClr val="2E4A39"/>
                </a:solidFill>
                <a:effectLst/>
                <a:uFillTx/>
                <a:latin typeface="Aptos"/>
                <a:ea typeface="Aptos"/>
              </a:rPr>
              <a:t>Markdown-Dateien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2816280" y="4599360"/>
            <a:ext cx="1919880" cy="347040"/>
          </a:xfrm>
          <a:prstGeom prst="rect">
            <a:avLst/>
          </a:prstGeom>
          <a:solidFill>
            <a:srgbClr val="F4E0DD"/>
          </a:solidFill>
          <a:ln w="0">
            <a:solidFill>
              <a:srgbClr val="F4E0D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B94E48"/>
                </a:solidFill>
                <a:effectLst/>
                <a:uFillTx/>
                <a:latin typeface="Aptos"/>
                <a:ea typeface="Aptos"/>
              </a:rPr>
              <a:t>Medienbruch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6492240" y="1700640"/>
            <a:ext cx="4434480" cy="2651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• Dokumentation liegt verteilt in mehreren Systemen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• Kein einheitlicher Standard und keine zentrale Suche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• Odoo-Editor ist ungeeignet für Code-Snippets und Tabellen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2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• Zugriffsschutz nicht sauber über Odoo-Berechtigungen abgebildet</a:t>
            </a:r>
            <a:endParaRPr lang="en-US" sz="15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3"/>
          <p:cNvSpPr/>
          <p:nvPr/>
        </p:nvSpPr>
        <p:spPr>
          <a:xfrm>
            <a:off x="6492240" y="4636080"/>
            <a:ext cx="43887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2500" lnSpcReduction="1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79" b="1" u="none" strike="noStrike">
                <a:solidFill>
                  <a:srgbClr val="2E4A39"/>
                </a:solidFill>
                <a:effectLst/>
                <a:uFillTx/>
                <a:latin typeface="Aptos Display"/>
                <a:ea typeface="Aptos Display"/>
              </a:rPr>
              <a:t>Kernproblem: Wissen ist vorhanden, aber nicht zentral nutzbar.</a:t>
            </a:r>
            <a:endParaRPr lang="en-US" sz="167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4"/>
          <p:cNvSpPr/>
          <p:nvPr/>
        </p:nvSpPr>
        <p:spPr>
          <a:xfrm>
            <a:off x="11201400" y="638244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03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658440" y="638244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Timo Giese · TrendTec UG · Sommerprüfung 2026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rogressTrack"/>
          <p:cNvSpPr/>
          <p:nvPr/>
        </p:nvSpPr>
        <p:spPr>
          <a:xfrm>
            <a:off x="0" y="0"/>
            <a:ext cx="12192000" cy="63000"/>
          </a:xfrm>
          <a:prstGeom prst="rect">
            <a:avLst/>
          </a:prstGeom>
          <a:solidFill>
            <a:srgbClr val="D8D2C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6" name="ProgressFill"/>
          <p:cNvSpPr/>
          <p:nvPr/>
        </p:nvSpPr>
        <p:spPr>
          <a:xfrm>
            <a:off x="0" y="0"/>
            <a:ext cx="2438400" cy="63000"/>
          </a:xfrm>
          <a:prstGeom prst="rect">
            <a:avLst/>
          </a:prstGeom>
          <a:solidFill>
            <a:srgbClr val="506B4E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7" name="PhaseLabel"/>
          <p:cNvSpPr/>
          <p:nvPr/>
        </p:nvSpPr>
        <p:spPr>
          <a:xfrm>
            <a:off x="7000000" y="355000"/>
            <a:ext cx="4533560" cy="200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de-DE" sz="780" b="1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Analyse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658440" y="347400"/>
            <a:ext cx="5851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506B4E"/>
                </a:solidFill>
                <a:effectLst/>
                <a:uFillTx/>
                <a:latin typeface="Aptos"/>
                <a:ea typeface="Aptos"/>
              </a:rPr>
              <a:t>IHK-PRÜFUNGSPRÄSENTATION · MDWRITER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"/>
          <p:cNvSpPr/>
          <p:nvPr/>
        </p:nvSpPr>
        <p:spPr>
          <a:xfrm>
            <a:off x="658440" y="603360"/>
            <a:ext cx="7223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50" b="1" u="none" strike="noStrike">
                <a:solidFill>
                  <a:srgbClr val="1B2A2F"/>
                </a:solidFill>
                <a:effectLst/>
                <a:uFillTx/>
                <a:latin typeface="Aptos Display"/>
                <a:ea typeface="Aptos Display"/>
              </a:rPr>
              <a:t>Das Ziel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"/>
          <p:cNvSpPr/>
          <p:nvPr/>
        </p:nvSpPr>
        <p:spPr>
          <a:xfrm>
            <a:off x="658440" y="1078920"/>
            <a:ext cx="10881000" cy="8640"/>
          </a:xfrm>
          <a:prstGeom prst="rect">
            <a:avLst/>
          </a:prstGeom>
          <a:noFill/>
          <a:ln w="9000">
            <a:solidFill>
              <a:srgbClr val="D8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Text 3"/>
          <p:cNvSpPr/>
          <p:nvPr/>
        </p:nvSpPr>
        <p:spPr>
          <a:xfrm>
            <a:off x="804600" y="1956960"/>
            <a:ext cx="3382920" cy="914040"/>
          </a:xfrm>
          <a:prstGeom prst="rect">
            <a:avLst/>
          </a:prstGeom>
          <a:solidFill>
            <a:srgbClr val="506B4E"/>
          </a:solidFill>
          <a:ln w="0">
            <a:solidFill>
              <a:srgbClr val="506B4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Alles in Odoo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4"/>
          <p:cNvSpPr/>
          <p:nvPr/>
        </p:nvSpPr>
        <p:spPr>
          <a:xfrm>
            <a:off x="868680" y="3044880"/>
            <a:ext cx="3245760" cy="58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2500"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E4A39"/>
                </a:solidFill>
                <a:effectLst/>
                <a:uFillTx/>
                <a:latin typeface="Aptos"/>
                <a:ea typeface="Aptos"/>
              </a:rPr>
              <a:t>Kein Wechsel zwischen Tools.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u="none" strike="noStrike">
                <a:solidFill>
                  <a:srgbClr val="2E4A39"/>
                </a:solidFill>
                <a:effectLst/>
                <a:uFillTx/>
                <a:latin typeface="Aptos"/>
                <a:ea typeface="Aptos"/>
              </a:rPr>
              <a:t>Markdown bleibt das Arbeitsformat.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5"/>
          <p:cNvSpPr/>
          <p:nvPr/>
        </p:nvSpPr>
        <p:spPr>
          <a:xfrm>
            <a:off x="4937760" y="1417320"/>
            <a:ext cx="2148480" cy="932400"/>
          </a:xfrm>
          <a:prstGeom prst="rect">
            <a:avLst/>
          </a:prstGeom>
          <a:solidFill>
            <a:srgbClr val="E5EBDD"/>
          </a:solidFill>
          <a:ln w="10080">
            <a:solidFill>
              <a:srgbClr val="E5EB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r>
              <a:rPr lang="en-US" sz="1450" b="1" u="none" strike="noStrike">
                <a:solidFill>
                  <a:srgbClr val="2E4A39"/>
                </a:solidFill>
                <a:effectLst/>
                <a:uFillTx/>
                <a:latin typeface="Aptos"/>
                <a:ea typeface="Aptos"/>
              </a:rPr>
              <a:t>Markdown-Editor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E4A39"/>
                </a:solidFill>
                <a:effectLst/>
                <a:uFillTx/>
                <a:latin typeface="Aptos"/>
                <a:ea typeface="Aptos"/>
              </a:rPr>
              <a:t>direkt in Odoo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6"/>
          <p:cNvSpPr/>
          <p:nvPr/>
        </p:nvSpPr>
        <p:spPr>
          <a:xfrm>
            <a:off x="7425000" y="1417320"/>
            <a:ext cx="2148480" cy="932400"/>
          </a:xfrm>
          <a:prstGeom prst="rect">
            <a:avLst/>
          </a:prstGeom>
          <a:solidFill>
            <a:srgbClr val="E4EEF3"/>
          </a:solidFill>
          <a:ln w="10080">
            <a:solidFill>
              <a:srgbClr val="E4EEF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r>
              <a:rPr lang="en-US" sz="1450" b="1" u="none" strike="noStrike">
                <a:solidFill>
                  <a:srgbClr val="27485D"/>
                </a:solidFill>
                <a:effectLst/>
                <a:uFillTx/>
                <a:latin typeface="Aptos"/>
                <a:ea typeface="Aptos"/>
              </a:rPr>
              <a:t>Live-Vorschau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7485D"/>
                </a:solidFill>
                <a:effectLst/>
                <a:uFillTx/>
                <a:latin typeface="Aptos"/>
                <a:ea typeface="Aptos"/>
              </a:rPr>
              <a:t>beim Schreiben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7"/>
          <p:cNvSpPr/>
          <p:nvPr/>
        </p:nvSpPr>
        <p:spPr>
          <a:xfrm>
            <a:off x="4937760" y="2907720"/>
            <a:ext cx="2148480" cy="932400"/>
          </a:xfrm>
          <a:prstGeom prst="rect">
            <a:avLst/>
          </a:prstGeom>
          <a:solidFill>
            <a:srgbClr val="F4ECD8"/>
          </a:solidFill>
          <a:ln w="10080">
            <a:solidFill>
              <a:srgbClr val="F4EC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r>
              <a:rPr lang="en-US" sz="1450" b="1" u="none" strike="noStrike">
                <a:solidFill>
                  <a:srgbClr val="2E4A39"/>
                </a:solidFill>
                <a:effectLst/>
                <a:uFillTx/>
                <a:latin typeface="Aptos"/>
                <a:ea typeface="Aptos"/>
              </a:rPr>
              <a:t>Automatische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E4A39"/>
                </a:solidFill>
                <a:effectLst/>
                <a:uFillTx/>
                <a:latin typeface="Aptos"/>
                <a:ea typeface="Aptos"/>
              </a:rPr>
              <a:t>Versionierung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8"/>
          <p:cNvSpPr/>
          <p:nvPr/>
        </p:nvSpPr>
        <p:spPr>
          <a:xfrm>
            <a:off x="7425000" y="2907720"/>
            <a:ext cx="2148480" cy="932400"/>
          </a:xfrm>
          <a:prstGeom prst="rect">
            <a:avLst/>
          </a:prstGeom>
          <a:solidFill>
            <a:srgbClr val="FFFFFF"/>
          </a:solidFill>
          <a:ln w="1008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r>
              <a:rPr lang="en-US" sz="1450" b="1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PDF-Export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aus Odoo heraus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9"/>
          <p:cNvSpPr/>
          <p:nvPr/>
        </p:nvSpPr>
        <p:spPr>
          <a:xfrm>
            <a:off x="6181200" y="4407480"/>
            <a:ext cx="2148480" cy="932400"/>
          </a:xfrm>
          <a:prstGeom prst="rect">
            <a:avLst/>
          </a:prstGeom>
          <a:solidFill>
            <a:srgbClr val="2E4A39"/>
          </a:solidFill>
          <a:ln w="10080">
            <a:solidFill>
              <a:srgbClr val="2E4A3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r>
              <a:rPr lang="en-US" sz="14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Zugriffsschutz über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bestehende Rechte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822960" y="5650920"/>
            <a:ext cx="97837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Zielsetzung: direkte Integration statt zusätzlichem Tool.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1"/>
          <p:cNvSpPr/>
          <p:nvPr/>
        </p:nvSpPr>
        <p:spPr>
          <a:xfrm>
            <a:off x="11201400" y="638244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04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2"/>
          <p:cNvSpPr/>
          <p:nvPr/>
        </p:nvSpPr>
        <p:spPr>
          <a:xfrm>
            <a:off x="658440" y="638244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Timo Giese · TrendTec UG · Sommerprüfung 2026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rogressTrack"/>
          <p:cNvSpPr/>
          <p:nvPr/>
        </p:nvSpPr>
        <p:spPr>
          <a:xfrm>
            <a:off x="0" y="0"/>
            <a:ext cx="12192000" cy="63000"/>
          </a:xfrm>
          <a:prstGeom prst="rect">
            <a:avLst/>
          </a:prstGeom>
          <a:solidFill>
            <a:srgbClr val="D8D2C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49" name="ProgressFill"/>
          <p:cNvSpPr/>
          <p:nvPr/>
        </p:nvSpPr>
        <p:spPr>
          <a:xfrm>
            <a:off x="0" y="0"/>
            <a:ext cx="2438400" cy="63000"/>
          </a:xfrm>
          <a:prstGeom prst="rect">
            <a:avLst/>
          </a:prstGeom>
          <a:solidFill>
            <a:srgbClr val="506B4E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0" name="PhaseLabel"/>
          <p:cNvSpPr/>
          <p:nvPr/>
        </p:nvSpPr>
        <p:spPr>
          <a:xfrm>
            <a:off x="7000000" y="355000"/>
            <a:ext cx="4533560" cy="200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de-DE" sz="780" b="1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Analyse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0"/>
          <p:cNvSpPr/>
          <p:nvPr/>
        </p:nvSpPr>
        <p:spPr>
          <a:xfrm>
            <a:off x="658440" y="347400"/>
            <a:ext cx="5851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506B4E"/>
                </a:solidFill>
                <a:effectLst/>
                <a:uFillTx/>
                <a:latin typeface="Aptos"/>
                <a:ea typeface="Aptos"/>
              </a:rPr>
              <a:t>IHK-PRÜFUNGSPRÄSENTATION · MDWRITER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658440" y="603360"/>
            <a:ext cx="7223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50" b="1" u="none" strike="noStrike">
                <a:solidFill>
                  <a:srgbClr val="1B2A2F"/>
                </a:solidFill>
                <a:effectLst/>
                <a:uFillTx/>
                <a:latin typeface="Aptos Display"/>
                <a:ea typeface="Aptos Display"/>
              </a:rPr>
              <a:t>Make or Buy?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658440" y="1078920"/>
            <a:ext cx="10881000" cy="8640"/>
          </a:xfrm>
          <a:prstGeom prst="rect">
            <a:avLst/>
          </a:prstGeom>
          <a:noFill/>
          <a:ln w="9000">
            <a:solidFill>
              <a:srgbClr val="D8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Text 3"/>
          <p:cNvSpPr/>
          <p:nvPr/>
        </p:nvSpPr>
        <p:spPr>
          <a:xfrm>
            <a:off x="658440" y="1225440"/>
            <a:ext cx="53031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Nutzwertanalyse der Lösungsalternativen (gewichtet, max. 500 Punkte)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4"/>
          <p:cNvSpPr/>
          <p:nvPr/>
        </p:nvSpPr>
        <p:spPr>
          <a:xfrm>
            <a:off x="786240" y="1673280"/>
            <a:ext cx="2331360" cy="475200"/>
          </a:xfrm>
          <a:prstGeom prst="rect">
            <a:avLst/>
          </a:prstGeom>
          <a:solidFill>
            <a:srgbClr val="2E4A39"/>
          </a:solidFill>
          <a:ln w="9000">
            <a:solidFill>
              <a:srgbClr val="D8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Lösung</a:t>
            </a:r>
            <a:endParaRPr lang="en-US" sz="11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3117960" y="1673280"/>
            <a:ext cx="3062880" cy="475200"/>
          </a:xfrm>
          <a:prstGeom prst="rect">
            <a:avLst/>
          </a:prstGeom>
          <a:solidFill>
            <a:srgbClr val="2E4A39"/>
          </a:solidFill>
          <a:ln w="9000">
            <a:solidFill>
              <a:srgbClr val="D8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Odoo-Integration</a:t>
            </a:r>
            <a:endParaRPr lang="en-US" sz="11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6181200" y="1673280"/>
            <a:ext cx="2194200" cy="475200"/>
          </a:xfrm>
          <a:prstGeom prst="rect">
            <a:avLst/>
          </a:prstGeom>
          <a:solidFill>
            <a:srgbClr val="2E4A39"/>
          </a:solidFill>
          <a:ln w="9000">
            <a:solidFill>
              <a:srgbClr val="D8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8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Nutzwert (max. 500)</a:t>
            </a:r>
            <a:endParaRPr lang="en-US" sz="118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7"/>
          <p:cNvSpPr/>
          <p:nvPr/>
        </p:nvSpPr>
        <p:spPr>
          <a:xfrm>
            <a:off x="786240" y="2148840"/>
            <a:ext cx="2331360" cy="658080"/>
          </a:xfrm>
          <a:prstGeom prst="rect">
            <a:avLst/>
          </a:prstGeom>
          <a:solidFill>
            <a:srgbClr val="FFFFFF"/>
          </a:solidFill>
          <a:ln w="9000">
            <a:solidFill>
              <a:srgbClr val="D8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Confluence (SaaS)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8"/>
          <p:cNvSpPr/>
          <p:nvPr/>
        </p:nvSpPr>
        <p:spPr>
          <a:xfrm>
            <a:off x="3117960" y="2148840"/>
            <a:ext cx="3062880" cy="658080"/>
          </a:xfrm>
          <a:prstGeom prst="rect">
            <a:avLst/>
          </a:prstGeom>
          <a:solidFill>
            <a:srgbClr val="FFFFFF"/>
          </a:solidFill>
          <a:ln w="9000">
            <a:solidFill>
              <a:srgbClr val="D8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Externes System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9"/>
          <p:cNvSpPr/>
          <p:nvPr/>
        </p:nvSpPr>
        <p:spPr>
          <a:xfrm>
            <a:off x="6181200" y="2148840"/>
            <a:ext cx="2194200" cy="658080"/>
          </a:xfrm>
          <a:prstGeom prst="rect">
            <a:avLst/>
          </a:prstGeom>
          <a:solidFill>
            <a:srgbClr val="FFFFFF"/>
          </a:solidFill>
          <a:ln w="9000">
            <a:solidFill>
              <a:srgbClr val="D8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255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0"/>
          <p:cNvSpPr/>
          <p:nvPr/>
        </p:nvSpPr>
        <p:spPr>
          <a:xfrm>
            <a:off x="786240" y="2807280"/>
            <a:ext cx="2331360" cy="7128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Git-Wiki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1"/>
          <p:cNvSpPr/>
          <p:nvPr/>
        </p:nvSpPr>
        <p:spPr>
          <a:xfrm>
            <a:off x="3117960" y="2807280"/>
            <a:ext cx="3062880" cy="7128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Kein Zugriff aus Odoo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6181200" y="2807280"/>
            <a:ext cx="2194200" cy="712800"/>
          </a:xfrm>
          <a:prstGeom prst="rect">
            <a:avLst/>
          </a:prstGeom>
          <a:solidFill>
            <a:srgbClr val="FFFFFF"/>
          </a:solidFill>
          <a:ln w="9000">
            <a:solidFill>
              <a:srgbClr val="D8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320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3"/>
          <p:cNvSpPr/>
          <p:nvPr/>
        </p:nvSpPr>
        <p:spPr>
          <a:xfrm>
            <a:off x="786240" y="3520440"/>
            <a:ext cx="2331360" cy="785880"/>
          </a:xfrm>
          <a:prstGeom prst="rect">
            <a:avLst/>
          </a:prstGeom>
          <a:solidFill>
            <a:srgbClr val="506B4E"/>
          </a:solidFill>
          <a:ln w="9000">
            <a:solidFill>
              <a:srgbClr val="D8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MDWriter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(Eigenentwicklung)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4"/>
          <p:cNvSpPr/>
          <p:nvPr/>
        </p:nvSpPr>
        <p:spPr>
          <a:xfrm>
            <a:off x="3117960" y="3520440"/>
            <a:ext cx="3062880" cy="785880"/>
          </a:xfrm>
          <a:prstGeom prst="rect">
            <a:avLst/>
          </a:prstGeom>
          <a:solidFill>
            <a:srgbClr val="506B4E"/>
          </a:solidFill>
          <a:ln w="9000">
            <a:solidFill>
              <a:srgbClr val="D8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Vollständig integriert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5"/>
          <p:cNvSpPr/>
          <p:nvPr/>
        </p:nvSpPr>
        <p:spPr>
          <a:xfrm>
            <a:off x="6181200" y="3520440"/>
            <a:ext cx="2194200" cy="785880"/>
          </a:xfrm>
          <a:prstGeom prst="rect">
            <a:avLst/>
          </a:prstGeom>
          <a:solidFill>
            <a:srgbClr val="506B4E"/>
          </a:solidFill>
          <a:ln w="9000">
            <a:solidFill>
              <a:srgbClr val="D8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475</a:t>
            </a:r>
            <a:endParaRPr lang="en-US" sz="11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6"/>
          <p:cNvSpPr/>
          <p:nvPr/>
        </p:nvSpPr>
        <p:spPr>
          <a:xfrm>
            <a:off x="8942760" y="1783080"/>
            <a:ext cx="2212560" cy="1416960"/>
          </a:xfrm>
          <a:prstGeom prst="rect">
            <a:avLst/>
          </a:prstGeom>
          <a:solidFill>
            <a:srgbClr val="E5EBDD"/>
          </a:solidFill>
          <a:ln w="10080">
            <a:solidFill>
              <a:srgbClr val="E5EB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r>
              <a:rPr lang="en-US" sz="1550" b="1" u="none" strike="noStrike">
                <a:solidFill>
                  <a:srgbClr val="2E4A39"/>
                </a:solidFill>
                <a:effectLst/>
                <a:uFillTx/>
                <a:latin typeface="Aptos"/>
                <a:ea typeface="Aptos"/>
              </a:rPr>
              <a:t>Entscheidung</a:t>
            </a:r>
            <a:endParaRPr lang="en-US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Eigenentwicklung mit dem höchsten Nutzwert (475/500): Nur diese Variante löst das Kernproblem — die direkte Integration in Odoo.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7"/>
          <p:cNvSpPr/>
          <p:nvPr/>
        </p:nvSpPr>
        <p:spPr>
          <a:xfrm>
            <a:off x="8942760" y="3429000"/>
            <a:ext cx="2212560" cy="1416960"/>
          </a:xfrm>
          <a:prstGeom prst="rect">
            <a:avLst/>
          </a:prstGeom>
          <a:solidFill>
            <a:srgbClr val="E4EEF3"/>
          </a:solidFill>
          <a:ln w="10080">
            <a:solidFill>
              <a:srgbClr val="E4EEF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r>
              <a:rPr lang="en-US" sz="1300" b="1" u="none" strike="noStrike">
                <a:solidFill>
                  <a:srgbClr val="27485D"/>
                </a:solidFill>
                <a:effectLst/>
                <a:uFillTx/>
                <a:latin typeface="Aptos"/>
                <a:ea typeface="Aptos"/>
              </a:rPr>
              <a:t>Wirtschaftlichkeit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2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Kalkulatorischer Aufwand 2.112 € (80 h). Vorhandene Arbeitsmittel, keine laufenden Lizenzkosten.</a:t>
            </a:r>
            <a:endParaRPr lang="en-US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8"/>
          <p:cNvSpPr/>
          <p:nvPr/>
        </p:nvSpPr>
        <p:spPr>
          <a:xfrm>
            <a:off x="822960" y="5074920"/>
            <a:ext cx="722340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20" b="1" u="none" strike="noStrike">
                <a:solidFill>
                  <a:srgbClr val="2E4A39"/>
                </a:solidFill>
                <a:effectLst/>
                <a:uFillTx/>
                <a:latin typeface="Aptos Display"/>
                <a:ea typeface="Aptos Display"/>
              </a:rPr>
              <a:t>Integration schlägt reine Lizenzkosten.</a:t>
            </a:r>
            <a:endParaRPr lang="en-US" sz="18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9"/>
          <p:cNvSpPr/>
          <p:nvPr/>
        </p:nvSpPr>
        <p:spPr>
          <a:xfrm>
            <a:off x="11201400" y="638244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05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0"/>
          <p:cNvSpPr/>
          <p:nvPr/>
        </p:nvSpPr>
        <p:spPr>
          <a:xfrm>
            <a:off x="658440" y="638244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Timo Giese · TrendTec UG · Sommerprüfung 2026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rogressTrack"/>
          <p:cNvSpPr/>
          <p:nvPr/>
        </p:nvSpPr>
        <p:spPr>
          <a:xfrm>
            <a:off x="0" y="0"/>
            <a:ext cx="12192000" cy="63000"/>
          </a:xfrm>
          <a:prstGeom prst="rect">
            <a:avLst/>
          </a:prstGeom>
          <a:solidFill>
            <a:srgbClr val="D8D2C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0" name="ProgressFill"/>
          <p:cNvSpPr/>
          <p:nvPr/>
        </p:nvSpPr>
        <p:spPr>
          <a:xfrm>
            <a:off x="0" y="0"/>
            <a:ext cx="2438400" cy="63000"/>
          </a:xfrm>
          <a:prstGeom prst="rect">
            <a:avLst/>
          </a:prstGeom>
          <a:solidFill>
            <a:srgbClr val="506B4E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1" name="PhaseLabel"/>
          <p:cNvSpPr/>
          <p:nvPr/>
        </p:nvSpPr>
        <p:spPr>
          <a:xfrm>
            <a:off x="7000000" y="355000"/>
            <a:ext cx="4533560" cy="200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de-DE" sz="780" b="1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Analyse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0"/>
          <p:cNvSpPr/>
          <p:nvPr/>
        </p:nvSpPr>
        <p:spPr>
          <a:xfrm>
            <a:off x="658440" y="347400"/>
            <a:ext cx="5851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506B4E"/>
                </a:solidFill>
                <a:effectLst/>
                <a:uFillTx/>
                <a:latin typeface="Aptos"/>
                <a:ea typeface="Aptos"/>
              </a:rPr>
              <a:t>IHK-PRÜFUNGSPRÄSENTATION · MDWRITER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658440" y="603360"/>
            <a:ext cx="7223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50" b="1" u="none" strike="noStrike">
                <a:solidFill>
                  <a:srgbClr val="1B2A2F"/>
                </a:solidFill>
                <a:effectLst/>
                <a:uFillTx/>
                <a:latin typeface="Aptos Display"/>
                <a:ea typeface="Aptos Display"/>
              </a:rPr>
              <a:t>Technischer Aufbau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"/>
          <p:cNvSpPr/>
          <p:nvPr/>
        </p:nvSpPr>
        <p:spPr>
          <a:xfrm>
            <a:off x="658440" y="1078920"/>
            <a:ext cx="10881000" cy="8640"/>
          </a:xfrm>
          <a:prstGeom prst="rect">
            <a:avLst/>
          </a:prstGeom>
          <a:noFill/>
          <a:ln w="9000">
            <a:solidFill>
              <a:srgbClr val="D8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2" name="Text 3"/>
          <p:cNvSpPr/>
          <p:nvPr/>
        </p:nvSpPr>
        <p:spPr>
          <a:xfrm>
            <a:off x="658440" y="1225440"/>
            <a:ext cx="53946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Drei-Schichten-Modell innerhalb der Odoo-Konventionen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841320" y="1600200"/>
            <a:ext cx="5714640" cy="941400"/>
          </a:xfrm>
          <a:prstGeom prst="rect">
            <a:avLst/>
          </a:prstGeom>
          <a:solidFill>
            <a:srgbClr val="506B4E"/>
          </a:solidFill>
          <a:ln w="0">
            <a:solidFill>
              <a:srgbClr val="506B4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Frontend (Browser)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OWL-Komponente · CodeMirror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markdown-it lokal, kein CDN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5"/>
          <p:cNvSpPr/>
          <p:nvPr/>
        </p:nvSpPr>
        <p:spPr>
          <a:xfrm>
            <a:off x="3703320" y="2569320"/>
            <a:ext cx="360" cy="118800"/>
          </a:xfrm>
          <a:prstGeom prst="line">
            <a:avLst/>
          </a:prstGeom>
          <a:ln w="25560">
            <a:solidFill>
              <a:srgbClr val="D8D2C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6"/>
          <p:cNvSpPr/>
          <p:nvPr/>
        </p:nvSpPr>
        <p:spPr>
          <a:xfrm>
            <a:off x="841320" y="2770560"/>
            <a:ext cx="5714640" cy="941400"/>
          </a:xfrm>
          <a:prstGeom prst="rect">
            <a:avLst/>
          </a:prstGeom>
          <a:solidFill>
            <a:srgbClr val="406F8F"/>
          </a:solidFill>
          <a:ln w="0">
            <a:solidFill>
              <a:srgbClr val="406F8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Backend (Python / Odoo ORM)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Versionierung · PDF · Sicherheit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mistune · QWeb-Report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7"/>
          <p:cNvSpPr/>
          <p:nvPr/>
        </p:nvSpPr>
        <p:spPr>
          <a:xfrm>
            <a:off x="3703320" y="3739680"/>
            <a:ext cx="360" cy="118800"/>
          </a:xfrm>
          <a:prstGeom prst="line">
            <a:avLst/>
          </a:prstGeom>
          <a:ln w="25560">
            <a:solidFill>
              <a:srgbClr val="D8D2C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8"/>
          <p:cNvSpPr/>
          <p:nvPr/>
        </p:nvSpPr>
        <p:spPr>
          <a:xfrm>
            <a:off x="841320" y="3940920"/>
            <a:ext cx="5714640" cy="941400"/>
          </a:xfrm>
          <a:prstGeom prst="rect">
            <a:avLst/>
          </a:prstGeom>
          <a:solidFill>
            <a:srgbClr val="2E4A39"/>
          </a:solidFill>
          <a:ln w="0">
            <a:solidFill>
              <a:srgbClr val="2E4A3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r>
              <a:rPr lang="en-US" sz="15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Datenschicht</a:t>
            </a:r>
            <a:endParaRPr lang="en-US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PostgreSQL · ir.attachment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7452360" y="1627560"/>
            <a:ext cx="2605680" cy="475200"/>
          </a:xfrm>
          <a:prstGeom prst="rect">
            <a:avLst/>
          </a:prstGeom>
          <a:solidFill>
            <a:srgbClr val="FFFFFF"/>
          </a:solidFill>
          <a:ln w="0">
            <a:solidFill>
              <a:srgbClr val="D8D2C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E4A39"/>
                </a:solidFill>
                <a:effectLst/>
                <a:uFillTx/>
                <a:latin typeface="Courier New"/>
                <a:ea typeface="Courier New"/>
              </a:rPr>
              <a:t>markdown_editor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0"/>
          <p:cNvSpPr/>
          <p:nvPr/>
        </p:nvSpPr>
        <p:spPr>
          <a:xfrm>
            <a:off x="7342560" y="2423160"/>
            <a:ext cx="3337200" cy="223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6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• Keine externen CDN-/Netzwerkabhängigkeiten</a:t>
            </a:r>
            <a:endParaRPr lang="en-US" sz="13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6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• Assets lokal im Modul</a:t>
            </a:r>
            <a:endParaRPr lang="en-US" sz="13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6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• ORM, ACL und Record Rules statt Sonderlösung</a:t>
            </a:r>
            <a:endParaRPr lang="en-US" sz="13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6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• PDF-Erzeugung serverseitig mit Cache</a:t>
            </a:r>
            <a:endParaRPr lang="en-US" sz="13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841320" y="5285160"/>
            <a:ext cx="950940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20" b="1" u="none" strike="noStrike">
                <a:solidFill>
                  <a:srgbClr val="2E4A39"/>
                </a:solidFill>
                <a:effectLst/>
                <a:uFillTx/>
                <a:latin typeface="Aptos Display"/>
                <a:ea typeface="Aptos Display"/>
              </a:rPr>
              <a:t>Technischer Fokus: direkte Odoo-Integration, wartbar und ohne externe Laufzeitdienste (intranetfähig).</a:t>
            </a:r>
            <a:endParaRPr lang="en-US" sz="16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2"/>
          <p:cNvSpPr/>
          <p:nvPr/>
        </p:nvSpPr>
        <p:spPr>
          <a:xfrm>
            <a:off x="11201400" y="638244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06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3"/>
          <p:cNvSpPr/>
          <p:nvPr/>
        </p:nvSpPr>
        <p:spPr>
          <a:xfrm>
            <a:off x="658440" y="638244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Timo Giese · TrendTec UG · Sommerprüfung 2026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rogressTrack"/>
          <p:cNvSpPr/>
          <p:nvPr/>
        </p:nvSpPr>
        <p:spPr>
          <a:xfrm>
            <a:off x="0" y="0"/>
            <a:ext cx="12192000" cy="63000"/>
          </a:xfrm>
          <a:prstGeom prst="rect">
            <a:avLst/>
          </a:prstGeom>
          <a:solidFill>
            <a:srgbClr val="D8D2C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84" name="ProgressFill"/>
          <p:cNvSpPr/>
          <p:nvPr/>
        </p:nvSpPr>
        <p:spPr>
          <a:xfrm>
            <a:off x="0" y="0"/>
            <a:ext cx="4876800" cy="63000"/>
          </a:xfrm>
          <a:prstGeom prst="rect">
            <a:avLst/>
          </a:prstGeom>
          <a:solidFill>
            <a:srgbClr val="506B4E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85" name="PhaseLabel"/>
          <p:cNvSpPr/>
          <p:nvPr/>
        </p:nvSpPr>
        <p:spPr>
          <a:xfrm>
            <a:off x="7000000" y="355000"/>
            <a:ext cx="4533560" cy="200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de-DE" sz="780" b="1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Entwurf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658440" y="347400"/>
            <a:ext cx="5851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506B4E"/>
                </a:solidFill>
                <a:effectLst/>
                <a:uFillTx/>
                <a:latin typeface="Aptos"/>
                <a:ea typeface="Aptos"/>
              </a:rPr>
              <a:t>IHK-PRÜFUNGSPRÄSENTATION · MDWRITER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658440" y="603360"/>
            <a:ext cx="7223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50" b="1" u="none" strike="noStrike">
                <a:solidFill>
                  <a:srgbClr val="1B2A2F"/>
                </a:solidFill>
                <a:effectLst/>
                <a:uFillTx/>
                <a:latin typeface="Aptos Display"/>
                <a:ea typeface="Aptos Display"/>
              </a:rPr>
              <a:t>Was das Modul kann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"/>
          <p:cNvSpPr/>
          <p:nvPr/>
        </p:nvSpPr>
        <p:spPr>
          <a:xfrm>
            <a:off x="658440" y="1078920"/>
            <a:ext cx="10881000" cy="8640"/>
          </a:xfrm>
          <a:prstGeom prst="rect">
            <a:avLst/>
          </a:prstGeom>
          <a:noFill/>
          <a:ln w="9000">
            <a:solidFill>
              <a:srgbClr val="D8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86" name="Text 3"/>
          <p:cNvSpPr/>
          <p:nvPr/>
        </p:nvSpPr>
        <p:spPr>
          <a:xfrm>
            <a:off x="777240" y="1444680"/>
            <a:ext cx="5074560" cy="914040"/>
          </a:xfrm>
          <a:prstGeom prst="rect">
            <a:avLst/>
          </a:prstGeom>
          <a:solidFill>
            <a:srgbClr val="E5EBDD"/>
          </a:solidFill>
          <a:ln w="0">
            <a:solidFill>
              <a:srgbClr val="E5EBD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r>
              <a:rPr lang="en-US" sz="1480" b="1" u="none" strike="noStrike" dirty="0">
                <a:solidFill>
                  <a:srgbClr val="2E4A39"/>
                </a:solidFill>
                <a:effectLst/>
                <a:uFillTx/>
                <a:latin typeface="Aptos"/>
                <a:ea typeface="Aptos"/>
              </a:rPr>
              <a:t>1. Split-View Editor</a:t>
            </a:r>
            <a:endParaRPr lang="en-US" sz="148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 dirty="0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Markdown links, Live-</a:t>
            </a:r>
            <a:r>
              <a:rPr lang="en-US" sz="1140" b="0" u="none" strike="noStrike" dirty="0" err="1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Vorschau</a:t>
            </a:r>
            <a:r>
              <a:rPr lang="en-US" sz="1140" b="0" u="none" strike="noStrike" dirty="0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 </a:t>
            </a:r>
            <a:r>
              <a:rPr lang="en-US" sz="1140" b="0" u="none" strike="noStrike" dirty="0" err="1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rechts</a:t>
            </a:r>
            <a:endParaRPr lang="en-US" sz="114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4"/>
          <p:cNvSpPr/>
          <p:nvPr/>
        </p:nvSpPr>
        <p:spPr>
          <a:xfrm>
            <a:off x="6355080" y="1444680"/>
            <a:ext cx="5074560" cy="914040"/>
          </a:xfrm>
          <a:prstGeom prst="rect">
            <a:avLst/>
          </a:prstGeom>
          <a:solidFill>
            <a:srgbClr val="E4EEF3"/>
          </a:solidFill>
          <a:ln w="0">
            <a:solidFill>
              <a:srgbClr val="E4EE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r>
              <a:rPr lang="en-US" sz="1480" b="1" u="none" strike="noStrike">
                <a:solidFill>
                  <a:srgbClr val="27485D"/>
                </a:solidFill>
                <a:effectLst/>
                <a:uFillTx/>
                <a:latin typeface="Aptos"/>
                <a:ea typeface="Aptos"/>
              </a:rPr>
              <a:t>2. Automatische Versionierung</a:t>
            </a:r>
            <a:endParaRPr lang="en-US" sz="1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bei jeder Inhaltsänderung mit MD5-Prüfsumme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5"/>
          <p:cNvSpPr/>
          <p:nvPr/>
        </p:nvSpPr>
        <p:spPr>
          <a:xfrm>
            <a:off x="777240" y="2743200"/>
            <a:ext cx="5074560" cy="914040"/>
          </a:xfrm>
          <a:prstGeom prst="rect">
            <a:avLst/>
          </a:prstGeom>
          <a:solidFill>
            <a:srgbClr val="F4ECD8"/>
          </a:solidFill>
          <a:ln w="0">
            <a:solidFill>
              <a:srgbClr val="F4ECD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r>
              <a:rPr lang="en-US" sz="1480" b="1" u="none" strike="noStrike">
                <a:solidFill>
                  <a:srgbClr val="2E4A39"/>
                </a:solidFill>
                <a:effectLst/>
                <a:uFillTx/>
                <a:latin typeface="Aptos"/>
                <a:ea typeface="Aptos"/>
              </a:rPr>
              <a:t>3. Versionsvergleich</a:t>
            </a:r>
            <a:endParaRPr lang="en-US" sz="1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farbiger Diff zwischen zwei Versionen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6"/>
          <p:cNvSpPr/>
          <p:nvPr/>
        </p:nvSpPr>
        <p:spPr>
          <a:xfrm>
            <a:off x="6355080" y="2743200"/>
            <a:ext cx="5074560" cy="914040"/>
          </a:xfrm>
          <a:prstGeom prst="rect">
            <a:avLst/>
          </a:prstGeom>
          <a:solidFill>
            <a:srgbClr val="E5EBDD"/>
          </a:solidFill>
          <a:ln w="0">
            <a:solidFill>
              <a:srgbClr val="E5EBD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r>
              <a:rPr lang="en-US" sz="1480" b="1" u="none" strike="noStrike">
                <a:solidFill>
                  <a:srgbClr val="2E4A39"/>
                </a:solidFill>
                <a:effectLst/>
                <a:uFillTx/>
                <a:latin typeface="Aptos"/>
                <a:ea typeface="Aptos"/>
              </a:rPr>
              <a:t>4. Restore</a:t>
            </a:r>
            <a:endParaRPr lang="en-US" sz="1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ältere Version wiederherstellen — selbst versioniert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777240" y="4041720"/>
            <a:ext cx="5074560" cy="914040"/>
          </a:xfrm>
          <a:prstGeom prst="rect">
            <a:avLst/>
          </a:prstGeom>
          <a:solidFill>
            <a:srgbClr val="E4EEF3"/>
          </a:solidFill>
          <a:ln w="0">
            <a:solidFill>
              <a:srgbClr val="E4EEF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r>
              <a:rPr lang="en-US" sz="1480" b="1" u="none" strike="noStrike">
                <a:solidFill>
                  <a:srgbClr val="27485D"/>
                </a:solidFill>
                <a:effectLst/>
                <a:uFillTx/>
                <a:latin typeface="Aptos"/>
                <a:ea typeface="Aptos"/>
              </a:rPr>
              <a:t>5. PDF-Export</a:t>
            </a:r>
            <a:endParaRPr lang="en-US" sz="1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Metadaten-Header und Cache bei unverändertem Inhalt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8"/>
          <p:cNvSpPr/>
          <p:nvPr/>
        </p:nvSpPr>
        <p:spPr>
          <a:xfrm>
            <a:off x="6355080" y="4041720"/>
            <a:ext cx="5074560" cy="914040"/>
          </a:xfrm>
          <a:prstGeom prst="rect">
            <a:avLst/>
          </a:prstGeom>
          <a:solidFill>
            <a:srgbClr val="F4ECD8"/>
          </a:solidFill>
          <a:ln w="0">
            <a:solidFill>
              <a:srgbClr val="F4ECD8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r>
              <a:rPr lang="en-US" sz="1480" b="1" u="none" strike="noStrike">
                <a:solidFill>
                  <a:srgbClr val="2E4A39"/>
                </a:solidFill>
                <a:effectLst/>
                <a:uFillTx/>
                <a:latin typeface="Aptos"/>
                <a:ea typeface="Aptos"/>
              </a:rPr>
              <a:t>6. Statusverwaltung</a:t>
            </a:r>
            <a:endParaRPr lang="en-US" sz="1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4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Entwurf · Veröffentlicht · Archiviert</a:t>
            </a:r>
            <a:endParaRPr lang="en-US" sz="11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9"/>
          <p:cNvSpPr/>
          <p:nvPr/>
        </p:nvSpPr>
        <p:spPr>
          <a:xfrm>
            <a:off x="914400" y="5504760"/>
            <a:ext cx="31543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5000"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E4A39"/>
                </a:solidFill>
                <a:effectLst/>
                <a:uFillTx/>
                <a:latin typeface="Aptos Display"/>
                <a:ea typeface="Aptos Display"/>
              </a:rPr>
              <a:t>Plan erfüllt + sinnvoll erweitert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0"/>
          <p:cNvSpPr/>
          <p:nvPr/>
        </p:nvSpPr>
        <p:spPr>
          <a:xfrm>
            <a:off x="4160520" y="5550480"/>
            <a:ext cx="53031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Restore und Statusverwaltung kamen zusätzlich hinzu.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1"/>
          <p:cNvSpPr/>
          <p:nvPr/>
        </p:nvSpPr>
        <p:spPr>
          <a:xfrm>
            <a:off x="11201400" y="638244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07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2"/>
          <p:cNvSpPr/>
          <p:nvPr/>
        </p:nvSpPr>
        <p:spPr>
          <a:xfrm>
            <a:off x="658440" y="638244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Timo Giese · TrendTec UG · Sommerprüfung 2026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rogressTrack"/>
          <p:cNvSpPr/>
          <p:nvPr/>
        </p:nvSpPr>
        <p:spPr>
          <a:xfrm>
            <a:off x="0" y="0"/>
            <a:ext cx="12192000" cy="63000"/>
          </a:xfrm>
          <a:prstGeom prst="rect">
            <a:avLst/>
          </a:prstGeom>
          <a:solidFill>
            <a:srgbClr val="D8D2C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97" name="ProgressFill"/>
          <p:cNvSpPr/>
          <p:nvPr/>
        </p:nvSpPr>
        <p:spPr>
          <a:xfrm>
            <a:off x="0" y="0"/>
            <a:ext cx="7315200" cy="63000"/>
          </a:xfrm>
          <a:prstGeom prst="rect">
            <a:avLst/>
          </a:prstGeom>
          <a:solidFill>
            <a:srgbClr val="506B4E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98" name="PhaseLabel"/>
          <p:cNvSpPr/>
          <p:nvPr/>
        </p:nvSpPr>
        <p:spPr>
          <a:xfrm>
            <a:off x="7000000" y="355000"/>
            <a:ext cx="4533560" cy="200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de-DE" sz="780" b="1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Implementierung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658440" y="347400"/>
            <a:ext cx="5851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506B4E"/>
                </a:solidFill>
                <a:effectLst/>
                <a:uFillTx/>
                <a:latin typeface="Aptos"/>
                <a:ea typeface="Aptos"/>
              </a:rPr>
              <a:t>IHK-PRÜFUNGSPRÄSENTATION · MDWRITER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658440" y="603360"/>
            <a:ext cx="7223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50" b="1" u="none" strike="noStrike">
                <a:solidFill>
                  <a:srgbClr val="1B2A2F"/>
                </a:solidFill>
                <a:effectLst/>
                <a:uFillTx/>
                <a:latin typeface="Aptos Display"/>
                <a:ea typeface="Aptos Display"/>
              </a:rPr>
              <a:t>Herausforderung in der Umsetzung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"/>
          <p:cNvSpPr/>
          <p:nvPr/>
        </p:nvSpPr>
        <p:spPr>
          <a:xfrm>
            <a:off x="658440" y="1078920"/>
            <a:ext cx="10881000" cy="8640"/>
          </a:xfrm>
          <a:prstGeom prst="rect">
            <a:avLst/>
          </a:prstGeom>
          <a:noFill/>
          <a:ln w="9000">
            <a:solidFill>
              <a:srgbClr val="D8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4" name="Text 11"/>
          <p:cNvSpPr/>
          <p:nvPr/>
        </p:nvSpPr>
        <p:spPr>
          <a:xfrm>
            <a:off x="11201400" y="638244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08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2"/>
          <p:cNvSpPr/>
          <p:nvPr/>
        </p:nvSpPr>
        <p:spPr>
          <a:xfrm>
            <a:off x="658440" y="638244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Timo Giese · TrendTec UG · Sommerprüfung 2026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ub"/>
          <p:cNvSpPr/>
          <p:nvPr/>
        </p:nvSpPr>
        <p:spPr>
          <a:xfrm>
            <a:off x="658440" y="1225440"/>
            <a:ext cx="8000000" cy="2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de-DE" sz="1050" b="0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Beispiel aus der Implementierung</a:t>
            </a:r>
          </a:p>
        </p:txBody>
      </p:sp>
      <p:sp>
        <p:nvSpPr>
          <p:cNvPr id="61" name="Body"/>
          <p:cNvSpPr/>
          <p:nvPr/>
        </p:nvSpPr>
        <p:spPr>
          <a:xfrm>
            <a:off x="777240" y="1700000"/>
            <a:ext cx="10600000" cy="3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de-DE" sz="1500" b="1" u="none" strike="noStrike">
                <a:solidFill>
                  <a:srgbClr val="B94E48"/>
                </a:solidFill>
                <a:effectLst/>
                <a:uFillTx/>
                <a:latin typeface="Aptos"/>
                <a:ea typeface="Aptos"/>
              </a:rPr>
              <a:t>Problem</a:t>
            </a:r>
            <a:r>
              <a:rPr lang="de-DE" sz="138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   CodeMirror braucht ein echtes DOM-Element. In setup() existiert die Textarea noch nicht — eine zu frühe Initialisierung schlägt fehl.</a:t>
            </a: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de-DE" sz="1500" b="1" u="none" strike="noStrike">
                <a:solidFill>
                  <a:srgbClr val="2E4A39"/>
                </a:solidFill>
                <a:effectLst/>
                <a:uFillTx/>
                <a:latin typeface="Aptos"/>
                <a:ea typeface="Aptos"/>
              </a:rPr>
              <a:t>Lösung</a:t>
            </a:r>
            <a:r>
              <a:rPr lang="de-DE" sz="138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   Initialisierung im OWL-Hook onMounted (läuft erst, wenn die Komponente im DOM hängt). Aufräumen in onWillUnmount: CodeMirror zerstören, Timer löschen — gegen Memory Leaks.</a:t>
            </a:r>
          </a:p>
          <a:p>
            <a:pPr indent="0">
              <a:lnSpc>
                <a:spcPct val="100000"/>
              </a:lnSpc>
              <a:spcBef>
                <a:spcPts val="900"/>
              </a:spcBef>
              <a:buNone/>
            </a:pPr>
            <a:r>
              <a:rPr lang="de-DE" sz="1200" b="0" u="none" strike="noStrike">
                <a:solidFill>
                  <a:srgbClr val="2E4A39"/>
                </a:solidFill>
                <a:effectLst/>
                <a:uFillTx/>
                <a:latin typeface="Courier New"/>
                <a:ea typeface="Courier New"/>
              </a:rPr>
              <a:t>onMounted(() =&gt; CodeMirror.fromTextArea(textarea, …))</a:t>
            </a:r>
          </a:p>
          <a:p>
            <a:pPr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de-DE" sz="1500" b="1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Erkenntnis</a:t>
            </a:r>
            <a:r>
              <a:rPr lang="de-DE" sz="138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   Das Verständnis des OWL-Komponentenlebenszyklus war der Schlüssel zur Integration einer DOM-basierten Bibliothek.</a:t>
            </a:r>
          </a:p>
        </p:txBody>
      </p:sp>
      <p:sp>
        <p:nvSpPr>
          <p:cNvPr id="63" name="Tag"/>
          <p:cNvSpPr/>
          <p:nvPr/>
        </p:nvSpPr>
        <p:spPr>
          <a:xfrm>
            <a:off x="914400" y="5504760"/>
            <a:ext cx="7000000" cy="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de-DE" sz="1500" b="1" u="none" strike="noStrike">
                <a:solidFill>
                  <a:srgbClr val="2E4A39"/>
                </a:solidFill>
                <a:effectLst/>
                <a:uFillTx/>
                <a:latin typeface="Aptos"/>
                <a:ea typeface="Aptos"/>
              </a:rPr>
              <a:t>Aus einer Hürde wurde eine Erkenntnis.</a:t>
            </a:r>
          </a:p>
        </p:txBody>
      </p:sp>
      <p:sp>
        <p:nvSpPr>
          <p:cNvPr id="96" name="ProgressTrack"/>
          <p:cNvSpPr/>
          <p:nvPr/>
        </p:nvSpPr>
        <p:spPr>
          <a:xfrm>
            <a:off x="0" y="0"/>
            <a:ext cx="12192000" cy="63000"/>
          </a:xfrm>
          <a:prstGeom prst="rect">
            <a:avLst/>
          </a:prstGeom>
          <a:solidFill>
            <a:srgbClr val="D8D2C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97" name="ProgressFill"/>
          <p:cNvSpPr/>
          <p:nvPr/>
        </p:nvSpPr>
        <p:spPr>
          <a:xfrm>
            <a:off x="0" y="0"/>
            <a:ext cx="7315200" cy="63000"/>
          </a:xfrm>
          <a:prstGeom prst="rect">
            <a:avLst/>
          </a:prstGeom>
          <a:solidFill>
            <a:srgbClr val="506B4E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98" name="PhaseLabel"/>
          <p:cNvSpPr/>
          <p:nvPr/>
        </p:nvSpPr>
        <p:spPr>
          <a:xfrm>
            <a:off x="7000000" y="355000"/>
            <a:ext cx="4533560" cy="200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de-DE" sz="780" b="1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Implementierung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 0"/>
          <p:cNvSpPr/>
          <p:nvPr/>
        </p:nvSpPr>
        <p:spPr>
          <a:xfrm>
            <a:off x="658440" y="347400"/>
            <a:ext cx="5851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506B4E"/>
                </a:solidFill>
                <a:effectLst/>
                <a:uFillTx/>
                <a:latin typeface="Aptos"/>
                <a:ea typeface="Aptos"/>
              </a:rPr>
              <a:t>IHK-PRÜFUNGSPRÄSENTATION · MDWRITER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"/>
          <p:cNvSpPr/>
          <p:nvPr/>
        </p:nvSpPr>
        <p:spPr>
          <a:xfrm>
            <a:off x="658440" y="603360"/>
            <a:ext cx="7223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50" b="1" u="none" strike="noStrike">
                <a:solidFill>
                  <a:srgbClr val="1B2A2F"/>
                </a:solidFill>
                <a:effectLst/>
                <a:uFillTx/>
                <a:latin typeface="Aptos Display"/>
                <a:ea typeface="Aptos Display"/>
              </a:rPr>
              <a:t>Qualitätssicherung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"/>
          <p:cNvSpPr/>
          <p:nvPr/>
        </p:nvSpPr>
        <p:spPr>
          <a:xfrm>
            <a:off x="658440" y="1078920"/>
            <a:ext cx="10881000" cy="8640"/>
          </a:xfrm>
          <a:prstGeom prst="rect">
            <a:avLst/>
          </a:prstGeom>
          <a:noFill/>
          <a:ln w="9000">
            <a:solidFill>
              <a:srgbClr val="D8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9" name="Text 3"/>
          <p:cNvSpPr/>
          <p:nvPr/>
        </p:nvSpPr>
        <p:spPr>
          <a:xfrm>
            <a:off x="658440" y="1225440"/>
            <a:ext cx="484596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Sicherheit und Tests als prüfbarer Nachweis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822960" y="1600200"/>
            <a:ext cx="448020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E4A39"/>
                </a:solidFill>
                <a:effectLst/>
                <a:uFillTx/>
                <a:latin typeface="Aptos Display"/>
                <a:ea typeface="Aptos Display"/>
              </a:rPr>
              <a:t>Sicherheit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5"/>
          <p:cNvSpPr/>
          <p:nvPr/>
        </p:nvSpPr>
        <p:spPr>
          <a:xfrm>
            <a:off x="841320" y="2130480"/>
            <a:ext cx="2148480" cy="932400"/>
          </a:xfrm>
          <a:prstGeom prst="rect">
            <a:avLst/>
          </a:prstGeom>
          <a:solidFill>
            <a:srgbClr val="E5EBDD"/>
          </a:solidFill>
          <a:ln w="10080">
            <a:solidFill>
              <a:srgbClr val="E5EB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r>
              <a:rPr lang="en-US" sz="1500" b="1" u="none" strike="noStrike">
                <a:solidFill>
                  <a:srgbClr val="2E4A39"/>
                </a:solidFill>
                <a:effectLst/>
                <a:uFillTx/>
                <a:latin typeface="Aptos"/>
                <a:ea typeface="Aptos"/>
              </a:rPr>
              <a:t>ACL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Benutzer können nur eigene Dokumente sehen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6"/>
          <p:cNvSpPr/>
          <p:nvPr/>
        </p:nvSpPr>
        <p:spPr>
          <a:xfrm>
            <a:off x="3090600" y="2596680"/>
            <a:ext cx="310680" cy="360"/>
          </a:xfrm>
          <a:prstGeom prst="line">
            <a:avLst/>
          </a:prstGeom>
          <a:ln w="25560">
            <a:solidFill>
              <a:srgbClr val="D8D2C2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7"/>
          <p:cNvSpPr/>
          <p:nvPr/>
        </p:nvSpPr>
        <p:spPr>
          <a:xfrm>
            <a:off x="3493080" y="2130480"/>
            <a:ext cx="2148480" cy="932400"/>
          </a:xfrm>
          <a:prstGeom prst="rect">
            <a:avLst/>
          </a:prstGeom>
          <a:solidFill>
            <a:srgbClr val="E4EEF3"/>
          </a:solidFill>
          <a:ln w="10080">
            <a:solidFill>
              <a:srgbClr val="E4EEF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r>
              <a:rPr lang="en-US" sz="1600" b="1" u="none" strike="noStrike">
                <a:solidFill>
                  <a:srgbClr val="27485D"/>
                </a:solidFill>
                <a:effectLst/>
                <a:uFillTx/>
                <a:latin typeface="Aptos"/>
                <a:ea typeface="Aptos"/>
              </a:rPr>
              <a:t>Record Rules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serverseitige Datensatzfilterung über Odoo-Domains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8"/>
          <p:cNvSpPr/>
          <p:nvPr/>
        </p:nvSpPr>
        <p:spPr>
          <a:xfrm>
            <a:off x="841320" y="3429000"/>
            <a:ext cx="4800240" cy="932400"/>
          </a:xfrm>
          <a:prstGeom prst="rect">
            <a:avLst/>
          </a:prstGeom>
          <a:solidFill>
            <a:srgbClr val="F4ECD8"/>
          </a:solidFill>
          <a:ln w="10080">
            <a:solidFill>
              <a:srgbClr val="F4EC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r>
              <a:rPr lang="en-US" sz="1500" b="1" u="none" strike="noStrike">
                <a:solidFill>
                  <a:srgbClr val="2E4A39"/>
                </a:solidFill>
                <a:effectLst/>
                <a:uFillTx/>
                <a:latin typeface="Aptos"/>
                <a:ea typeface="Aptos"/>
              </a:rPr>
              <a:t>XSS-Schutz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markdown-it html:false · mistune ohne HTML-Ausführung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9"/>
          <p:cNvSpPr/>
          <p:nvPr/>
        </p:nvSpPr>
        <p:spPr>
          <a:xfrm>
            <a:off x="6492240" y="1600200"/>
            <a:ext cx="384012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27485D"/>
                </a:solidFill>
                <a:effectLst/>
                <a:uFillTx/>
                <a:latin typeface="Aptos Display"/>
                <a:ea typeface="Aptos Display"/>
              </a:rPr>
              <a:t>Tests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0"/>
          <p:cNvSpPr/>
          <p:nvPr/>
        </p:nvSpPr>
        <p:spPr>
          <a:xfrm>
            <a:off x="6629400" y="2084760"/>
            <a:ext cx="1142640" cy="1005480"/>
          </a:xfrm>
          <a:prstGeom prst="rect">
            <a:avLst/>
          </a:prstGeom>
          <a:solidFill>
            <a:srgbClr val="406F8F"/>
          </a:solidFill>
          <a:ln w="0">
            <a:solidFill>
              <a:srgbClr val="406F8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7</a:t>
            </a:r>
            <a:endParaRPr lang="en-US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1"/>
          <p:cNvSpPr/>
          <p:nvPr/>
        </p:nvSpPr>
        <p:spPr>
          <a:xfrm>
            <a:off x="8001000" y="224028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lnSpcReduction="9999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B2A2F"/>
                </a:solidFill>
                <a:effectLst/>
                <a:uFillTx/>
                <a:latin typeface="Aptos Display"/>
                <a:ea typeface="Aptos Display"/>
              </a:rPr>
              <a:t>automatisierte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1B2A2F"/>
                </a:solidFill>
                <a:effectLst/>
                <a:uFillTx/>
                <a:latin typeface="Aptos Display"/>
                <a:ea typeface="Aptos Display"/>
              </a:rPr>
              <a:t>Tests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2"/>
          <p:cNvSpPr/>
          <p:nvPr/>
        </p:nvSpPr>
        <p:spPr>
          <a:xfrm>
            <a:off x="6492240" y="3218760"/>
            <a:ext cx="4160160" cy="123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• TransactionCase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• Versionierung, ACL, Versionsvergleich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8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• Abnahme: 26.05.2026 durch Oliver Kölsch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3"/>
          <p:cNvSpPr/>
          <p:nvPr/>
        </p:nvSpPr>
        <p:spPr>
          <a:xfrm>
            <a:off x="6510600" y="4782240"/>
            <a:ext cx="3520080" cy="402120"/>
          </a:xfrm>
          <a:prstGeom prst="rect">
            <a:avLst/>
          </a:prstGeom>
          <a:solidFill>
            <a:srgbClr val="E5EBDD"/>
          </a:solidFill>
          <a:ln w="0">
            <a:solidFill>
              <a:srgbClr val="E5EBD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2E4A39"/>
                </a:solidFill>
                <a:effectLst/>
                <a:uFillTx/>
                <a:latin typeface="Courier New"/>
                <a:ea typeface="Courier New"/>
              </a:rPr>
              <a:t>0 failed, 0 error(s)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4"/>
          <p:cNvSpPr/>
          <p:nvPr/>
        </p:nvSpPr>
        <p:spPr>
          <a:xfrm>
            <a:off x="11201400" y="638244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09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5"/>
          <p:cNvSpPr/>
          <p:nvPr/>
        </p:nvSpPr>
        <p:spPr>
          <a:xfrm>
            <a:off x="658440" y="638244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Timo Giese · TrendTec UG · Sommerprüfung 2026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rogressTrack"/>
          <p:cNvSpPr/>
          <p:nvPr/>
        </p:nvSpPr>
        <p:spPr>
          <a:xfrm>
            <a:off x="0" y="0"/>
            <a:ext cx="12192000" cy="63000"/>
          </a:xfrm>
          <a:prstGeom prst="rect">
            <a:avLst/>
          </a:prstGeom>
          <a:solidFill>
            <a:srgbClr val="D8D2C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13" name="ProgressFill"/>
          <p:cNvSpPr/>
          <p:nvPr/>
        </p:nvSpPr>
        <p:spPr>
          <a:xfrm>
            <a:off x="0" y="0"/>
            <a:ext cx="9753600" cy="63000"/>
          </a:xfrm>
          <a:prstGeom prst="rect">
            <a:avLst/>
          </a:prstGeom>
          <a:solidFill>
            <a:srgbClr val="506B4E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14" name="PhaseLabel"/>
          <p:cNvSpPr/>
          <p:nvPr/>
        </p:nvSpPr>
        <p:spPr>
          <a:xfrm>
            <a:off x="7000000" y="355000"/>
            <a:ext cx="4533560" cy="200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de-DE" sz="780" b="1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Test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 0"/>
          <p:cNvSpPr/>
          <p:nvPr/>
        </p:nvSpPr>
        <p:spPr>
          <a:xfrm>
            <a:off x="658440" y="347400"/>
            <a:ext cx="5851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80" b="1" u="none" strike="noStrike">
                <a:solidFill>
                  <a:srgbClr val="506B4E"/>
                </a:solidFill>
                <a:effectLst/>
                <a:uFillTx/>
                <a:latin typeface="Aptos"/>
                <a:ea typeface="Aptos"/>
              </a:rPr>
              <a:t>IHK-PRÜFUNGSPRÄSENTATION · MDWRITER</a:t>
            </a:r>
            <a:endParaRPr lang="en-US" sz="7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"/>
          <p:cNvSpPr/>
          <p:nvPr/>
        </p:nvSpPr>
        <p:spPr>
          <a:xfrm>
            <a:off x="658440" y="603360"/>
            <a:ext cx="7223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150" b="1" u="none" strike="noStrike">
                <a:solidFill>
                  <a:srgbClr val="1B2A2F"/>
                </a:solidFill>
                <a:effectLst/>
                <a:uFillTx/>
                <a:latin typeface="Aptos Display"/>
                <a:ea typeface="Aptos Display"/>
              </a:rPr>
              <a:t>Projektergebnis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658440" y="1078920"/>
            <a:ext cx="10881000" cy="8640"/>
          </a:xfrm>
          <a:prstGeom prst="rect">
            <a:avLst/>
          </a:prstGeom>
          <a:noFill/>
          <a:ln w="9000">
            <a:solidFill>
              <a:srgbClr val="D8D2C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15" name="Text 3"/>
          <p:cNvSpPr/>
          <p:nvPr/>
        </p:nvSpPr>
        <p:spPr>
          <a:xfrm>
            <a:off x="658440" y="1225440"/>
            <a:ext cx="329148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Ergebnis &amp; Fazit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4"/>
          <p:cNvSpPr/>
          <p:nvPr/>
        </p:nvSpPr>
        <p:spPr>
          <a:xfrm>
            <a:off x="868680" y="1664280"/>
            <a:ext cx="4434480" cy="840960"/>
          </a:xfrm>
          <a:prstGeom prst="rect">
            <a:avLst/>
          </a:prstGeom>
          <a:solidFill>
            <a:srgbClr val="E5EBDD"/>
          </a:solidFill>
          <a:ln w="10080">
            <a:solidFill>
              <a:srgbClr val="E5EBD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r>
              <a:rPr lang="en-US" sz="1380" b="1" u="none" strike="noStrike">
                <a:solidFill>
                  <a:srgbClr val="2E4A39"/>
                </a:solidFill>
                <a:effectLst/>
                <a:uFillTx/>
                <a:latin typeface="Aptos"/>
                <a:ea typeface="Aptos"/>
              </a:rPr>
              <a:t>Pflichtanforderungen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vollständig erfüllt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5"/>
          <p:cNvSpPr/>
          <p:nvPr/>
        </p:nvSpPr>
        <p:spPr>
          <a:xfrm>
            <a:off x="5760720" y="1664280"/>
            <a:ext cx="4434480" cy="840960"/>
          </a:xfrm>
          <a:prstGeom prst="rect">
            <a:avLst/>
          </a:prstGeom>
          <a:solidFill>
            <a:srgbClr val="E4EEF3"/>
          </a:solidFill>
          <a:ln w="10080">
            <a:solidFill>
              <a:srgbClr val="E4EEF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r>
              <a:rPr lang="en-US" sz="1380" b="1" u="none" strike="noStrike">
                <a:solidFill>
                  <a:srgbClr val="27485D"/>
                </a:solidFill>
                <a:effectLst/>
                <a:uFillTx/>
                <a:latin typeface="Aptos"/>
                <a:ea typeface="Aptos"/>
              </a:rPr>
              <a:t>Projektzeit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80 Stunden eingehalten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6"/>
          <p:cNvSpPr/>
          <p:nvPr/>
        </p:nvSpPr>
        <p:spPr>
          <a:xfrm>
            <a:off x="868680" y="2807280"/>
            <a:ext cx="4434480" cy="840960"/>
          </a:xfrm>
          <a:prstGeom prst="rect">
            <a:avLst/>
          </a:prstGeom>
          <a:solidFill>
            <a:srgbClr val="F4ECD8"/>
          </a:solidFill>
          <a:ln w="10080">
            <a:solidFill>
              <a:srgbClr val="F4EC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r>
              <a:rPr lang="en-US" sz="1380" b="1" u="none" strike="noStrike">
                <a:solidFill>
                  <a:srgbClr val="2E4A39"/>
                </a:solidFill>
                <a:effectLst/>
                <a:uFillTx/>
                <a:latin typeface="Aptos"/>
                <a:ea typeface="Aptos"/>
              </a:rPr>
              <a:t>Betrieb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intern freigegeben (Odoo.sh)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7"/>
          <p:cNvSpPr/>
          <p:nvPr/>
        </p:nvSpPr>
        <p:spPr>
          <a:xfrm>
            <a:off x="5760720" y="2807280"/>
            <a:ext cx="4434480" cy="840960"/>
          </a:xfrm>
          <a:prstGeom prst="rect">
            <a:avLst/>
          </a:prstGeom>
          <a:solidFill>
            <a:srgbClr val="FFFFFF"/>
          </a:solidFill>
          <a:ln w="1008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r>
              <a:rPr lang="en-US" sz="1380" b="1" u="none" strike="noStrike">
                <a:solidFill>
                  <a:srgbClr val="2E4A39"/>
                </a:solidFill>
                <a:effectLst/>
                <a:uFillTx/>
                <a:latin typeface="Aptos"/>
                <a:ea typeface="Aptos"/>
              </a:rPr>
              <a:t>Nutzen</a:t>
            </a:r>
            <a:endParaRPr lang="en-US" sz="13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perspektivisch in Kundenprojekten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8"/>
          <p:cNvSpPr/>
          <p:nvPr/>
        </p:nvSpPr>
        <p:spPr>
          <a:xfrm>
            <a:off x="896040" y="418788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50" b="1" u="none" strike="noStrike">
                <a:solidFill>
                  <a:srgbClr val="2E4A39"/>
                </a:solidFill>
                <a:effectLst/>
                <a:uFillTx/>
                <a:latin typeface="Aptos Display"/>
                <a:ea typeface="Aptos Display"/>
              </a:rPr>
              <a:t>Lerneffekte</a:t>
            </a:r>
            <a:endParaRPr lang="en-US" sz="1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9"/>
          <p:cNvSpPr/>
          <p:nvPr/>
        </p:nvSpPr>
        <p:spPr>
          <a:xfrm>
            <a:off x="896040" y="4572000"/>
            <a:ext cx="539460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• OWL Lifecycle: onMounted für DOM-abhängige Bibliotheken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• CSS-Scoping in Odoo Enterprise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• Live-Vorschau entkoppelt (Debounce) für flüssige Bedienung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0"/>
          <p:cNvSpPr/>
          <p:nvPr/>
        </p:nvSpPr>
        <p:spPr>
          <a:xfrm>
            <a:off x="6629400" y="4060080"/>
            <a:ext cx="4205880" cy="1115280"/>
          </a:xfrm>
          <a:prstGeom prst="rect">
            <a:avLst/>
          </a:prstGeom>
          <a:solidFill>
            <a:srgbClr val="2E4A39"/>
          </a:solidFill>
          <a:ln w="0">
            <a:solidFill>
              <a:srgbClr val="2E4A39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 lnSpcReduction="9999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40" b="1" i="1" u="none" strike="noStrike">
                <a:solidFill>
                  <a:srgbClr val="FFFFFF"/>
                </a:solidFill>
                <a:effectLst/>
                <a:uFillTx/>
                <a:latin typeface="Aptos Display"/>
                <a:ea typeface="Aptos Display"/>
              </a:rPr>
              <a:t>„MDWriter löst das Ausgangsproblem vollständig — zentrale Markdown-Dokumentation, integriert in Odoo, ohne externe Tools.“</a:t>
            </a:r>
            <a:endParaRPr lang="en-US" sz="174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2"/>
          <p:cNvSpPr/>
          <p:nvPr/>
        </p:nvSpPr>
        <p:spPr>
          <a:xfrm>
            <a:off x="11201400" y="6382440"/>
            <a:ext cx="4111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1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10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3"/>
          <p:cNvSpPr/>
          <p:nvPr/>
        </p:nvSpPr>
        <p:spPr>
          <a:xfrm>
            <a:off x="658440" y="6382440"/>
            <a:ext cx="4754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Timo Giese · TrendTec UG · Sommerprüfung 2026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rogressTrack"/>
          <p:cNvSpPr/>
          <p:nvPr/>
        </p:nvSpPr>
        <p:spPr>
          <a:xfrm>
            <a:off x="0" y="0"/>
            <a:ext cx="12192000" cy="63000"/>
          </a:xfrm>
          <a:prstGeom prst="rect">
            <a:avLst/>
          </a:prstGeom>
          <a:solidFill>
            <a:srgbClr val="D8D2C2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27" name="ProgressFill"/>
          <p:cNvSpPr/>
          <p:nvPr/>
        </p:nvSpPr>
        <p:spPr>
          <a:xfrm>
            <a:off x="0" y="0"/>
            <a:ext cx="12192000" cy="63000"/>
          </a:xfrm>
          <a:prstGeom prst="rect">
            <a:avLst/>
          </a:prstGeom>
          <a:solidFill>
            <a:srgbClr val="506B4E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28" name="PhaseLabel"/>
          <p:cNvSpPr/>
          <p:nvPr/>
        </p:nvSpPr>
        <p:spPr>
          <a:xfrm>
            <a:off x="7000000" y="355000"/>
            <a:ext cx="4533560" cy="200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indent="0" algn="r">
              <a:lnSpc>
                <a:spcPct val="100000"/>
              </a:lnSpc>
              <a:buNone/>
            </a:pPr>
            <a:r>
              <a:rPr lang="de-DE" sz="780" b="1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Fazit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Text 2"/>
          <p:cNvSpPr/>
          <p:nvPr/>
        </p:nvSpPr>
        <p:spPr>
          <a:xfrm>
            <a:off x="713160" y="704160"/>
            <a:ext cx="2971440" cy="347040"/>
          </a:xfrm>
          <a:prstGeom prst="rect">
            <a:avLst/>
          </a:prstGeom>
          <a:solidFill>
            <a:srgbClr val="E5EBDD"/>
          </a:solidFill>
          <a:ln w="0">
            <a:solidFill>
              <a:srgbClr val="E5EBD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20" b="1" u="none" strike="noStrike">
                <a:solidFill>
                  <a:srgbClr val="2E4A39"/>
                </a:solidFill>
                <a:effectLst/>
                <a:uFillTx/>
                <a:latin typeface="Aptos"/>
                <a:ea typeface="Aptos"/>
              </a:rPr>
              <a:t>Odoo 19 · Markdown · Dokumentation</a:t>
            </a:r>
            <a:endParaRPr lang="en-US" sz="10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3"/>
          <p:cNvSpPr/>
          <p:nvPr/>
        </p:nvSpPr>
        <p:spPr>
          <a:xfrm>
            <a:off x="713160" y="1572840"/>
            <a:ext cx="47545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1B2A2F"/>
                </a:solidFill>
                <a:effectLst/>
                <a:uFillTx/>
                <a:latin typeface="Aptos Display"/>
                <a:ea typeface="Aptos Display"/>
              </a:rPr>
              <a:t>Vielen Dank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4"/>
          <p:cNvSpPr/>
          <p:nvPr/>
        </p:nvSpPr>
        <p:spPr>
          <a:xfrm>
            <a:off x="713160" y="2176200"/>
            <a:ext cx="6080400" cy="98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50" b="1" u="none" strike="noStrike">
                <a:solidFill>
                  <a:srgbClr val="506B4E"/>
                </a:solidFill>
                <a:effectLst/>
                <a:uFillTx/>
                <a:latin typeface="Aptos Display"/>
                <a:ea typeface="Aptos Display"/>
              </a:rPr>
              <a:t>für Ihre Aufmerksamkeit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2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5"/>
          <p:cNvSpPr/>
          <p:nvPr/>
        </p:nvSpPr>
        <p:spPr>
          <a:xfrm>
            <a:off x="731520" y="3364920"/>
            <a:ext cx="58975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80" b="0" u="none" strike="noStrike">
                <a:solidFill>
                  <a:srgbClr val="5F6B6D"/>
                </a:solidFill>
                <a:effectLst/>
                <a:uFillTx/>
                <a:latin typeface="Aptos"/>
                <a:ea typeface="Aptos"/>
              </a:rPr>
              <a:t>Fragen gern im Fachgespräch</a:t>
            </a:r>
            <a:endParaRPr lang="en-US" sz="14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Text 6"/>
          <p:cNvSpPr/>
          <p:nvPr/>
        </p:nvSpPr>
        <p:spPr>
          <a:xfrm>
            <a:off x="749880" y="5148000"/>
            <a:ext cx="475452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Timo Giese · Fachinformatiker Anwendungsentwicklung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B2A2F"/>
                </a:solidFill>
                <a:effectLst/>
                <a:uFillTx/>
                <a:latin typeface="Aptos"/>
                <a:ea typeface="Aptos"/>
              </a:rPr>
              <a:t>TrendTec UG · Sommerprüfung 2026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7"/>
          <p:cNvSpPr/>
          <p:nvPr/>
        </p:nvSpPr>
        <p:spPr>
          <a:xfrm>
            <a:off x="0" y="6236280"/>
            <a:ext cx="12191400" cy="621360"/>
          </a:xfrm>
          <a:prstGeom prst="rect">
            <a:avLst/>
          </a:prstGeom>
          <a:solidFill>
            <a:srgbClr val="2E4A39"/>
          </a:solidFill>
          <a:ln w="12600">
            <a:solidFill>
              <a:srgbClr val="33333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8"/>
          <p:cNvSpPr/>
          <p:nvPr/>
        </p:nvSpPr>
        <p:spPr>
          <a:xfrm>
            <a:off x="713160" y="6437520"/>
            <a:ext cx="52117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FFFFFF"/>
                </a:solidFill>
                <a:effectLst/>
                <a:uFillTx/>
                <a:latin typeface="Aptos"/>
                <a:ea typeface="Aptos"/>
              </a:rPr>
              <a:t>MDWriter — Markdown-Dokumentation direkt in Odoo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9" name="Foto Timo Gies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5998" y="704160"/>
            <a:ext cx="1600000" cy="2400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1415</Words>
  <Application>Microsoft Office PowerPoint</Application>
  <PresentationFormat>Breitbild</PresentationFormat>
  <Paragraphs>211</Paragraphs>
  <Slides>11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Symbol</vt:lpstr>
      <vt:lpstr>Times New Roman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TrendTec UG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Giese, Timo</cp:lastModifiedBy>
  <cp:revision>8</cp:revision>
  <dcterms:modified xsi:type="dcterms:W3CDTF">2026-06-17T06:19:46Z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2026-06-02T07:33:23Z</dcterms:created>
  <dc:creator>Timo Giese</dc:creator>
  <dc:description/>
  <dc:language>en-US</dc:language>
  <cp:lastModifiedBy>Timo Giese</cp:lastModifiedBy>
  <dcterms:modified xsi:type="dcterms:W3CDTF">2026-06-02T07:33:23Z</dcterms:modified>
  <cp:revision>1</cp:revision>
  <dc:subject>IHK-Prüfungspräsentation MDWriter</dc:subject>
  <dc:title>MDWriter — Markdown-Dokumentation direkt in Odoo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8</vt:r8>
  </property>
  <property fmtid="{D5CDD505-2E9C-101B-9397-08002B2CF9AE}" pid="3" name="PresentationFormat">
    <vt:lpwstr>On-screen Show (16:9)</vt:lpwstr>
  </property>
  <property fmtid="{D5CDD505-2E9C-101B-9397-08002B2CF9AE}" pid="4" name="Slides">
    <vt:r8>8</vt:r8>
  </property>
</Properties>
</file>